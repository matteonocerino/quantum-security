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2" r:id="rId3"/>
    <p:sldId id="263" r:id="rId4"/>
    <p:sldId id="264" r:id="rId5"/>
    <p:sldId id="260" r:id="rId6"/>
    <p:sldId id="266" r:id="rId7"/>
    <p:sldId id="267" r:id="rId8"/>
    <p:sldId id="269" r:id="rId9"/>
    <p:sldId id="271" r:id="rId10"/>
    <p:sldId id="272" r:id="rId11"/>
    <p:sldId id="274" r:id="rId12"/>
    <p:sldId id="276" r:id="rId13"/>
    <p:sldId id="278" r:id="rId14"/>
    <p:sldId id="277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2838"/>
    <a:srgbClr val="00B4A6"/>
    <a:srgbClr val="E8EDF2"/>
    <a:srgbClr val="2D6A4F"/>
    <a:srgbClr val="F4A261"/>
    <a:srgbClr val="457B9D"/>
    <a:srgbClr val="E63946"/>
    <a:srgbClr val="64748B"/>
    <a:srgbClr val="132338"/>
    <a:srgbClr val="0E9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85" d="100"/>
          <a:sy n="85" d="100"/>
        </p:scale>
        <p:origin x="47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275991F9-2C64-1669-A891-5D2E600B10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A51854C-2115-0050-F313-E89417F79A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794C0-CA9E-4B7A-816A-1397EBA75243}" type="datetimeFigureOut">
              <a:rPr lang="it-IT" smtClean="0"/>
              <a:t>09/06/2026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D523FA-44D5-7888-4231-DC84434C53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48E6BF3-3F7F-C5DA-9D21-97B617261E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1CF1B-4D8A-4C21-98E6-943D380826C4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97950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396D-9E14-441F-8057-BCD9F2BAF711}" type="datetimeFigureOut">
              <a:rPr lang="it-IT" smtClean="0"/>
              <a:t>09/06/2026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02A39-A97F-4B5B-8C46-990A4D86021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6231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365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32C4-93AB-8E6F-BC0F-377DAE57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6D4DE-E6DC-C323-4900-0117E7B48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2769E-D18B-D77B-2512-6421F9AF0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6985E-9A5D-E72F-84F1-21FBE3436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80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9485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27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649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B468-FF2E-19EF-CC6B-21DBAC4A0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8B854-9C57-2BFA-876F-A8AECE834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5E402-F212-D904-77CF-3D8EA1E8F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8BC96-D64C-705C-C30D-11A39B9BE6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086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5288A-64CA-AFEA-FEA5-B3AB9AC4C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0BCAC-04A7-39F1-4660-35D345C9C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0BA46-809D-7D51-05D8-5C54ACA23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6289E-53DF-DE2C-35A4-F6B8F3E25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8290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5B51-3573-BC68-64CF-981988AAC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0EFD4-632E-B9EE-0D28-0D807FE97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09BC7-7B52-C728-E301-7DD00A092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ABA0D-6EB2-B574-2AE7-2ED200C2D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6824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845DA-9502-6A58-8973-802B77E27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AFF11-47DB-471D-B558-A3CD63151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22570-1463-EA7A-77A2-0F7713DFE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5939C-AF50-D566-4EBD-660ED32CE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656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37C9-588B-367B-7700-123F8696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80FC5-0C83-1FDF-2AAC-076FA4CB8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8F0E1-4251-880E-6B0A-1899D983F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B8E58-1940-D8E7-B82A-B318B20D2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10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EA8D-F548-C7DB-4022-D24EF0EA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0225E-CAA7-257F-CE36-B6E09221F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90D75-7BE1-E7A3-4707-DC8827536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F9B26-E221-4319-4E57-E1EBA3A8F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101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C4407-57AE-A6F3-B294-2B9B6443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115E6-ED1C-7D13-4685-F3B2B1533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314A2-CFC2-2384-0400-AD4D4987A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D6301-1353-8239-5408-A0EF4E2FC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3303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3481-3650-C093-4DA3-158D0E8B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60913-37EE-801F-F2EA-40C818711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822B4-A548-EB15-EBC8-02BC3C406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F0FBB-3F8D-3A36-7540-9944EC201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549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03A00-FB54-2912-10A8-294FDAB4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D09D9-60E2-CA55-D7EA-2789403EE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CEC20-371A-BCE1-1070-B0554615B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D3BB2-B4E1-E14F-2ED0-9082DE95E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321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45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49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53440"/>
            <a:ext cx="2560320" cy="2560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3596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Magistrale Sicurezza Informatica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182880" y="4047744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1920" y="4474464"/>
            <a:ext cx="34137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Quantistiche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Sicurezza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1920" y="5425440"/>
            <a:ext cx="3413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Tsai et al., EPJ Quantum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12 (2025)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62400" y="609600"/>
            <a:ext cx="78028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7200" b="1" kern="0" spc="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M2M-MQSS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3962400" y="2255520"/>
            <a:ext cx="78028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Multiparty-to-Multiparty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2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Mediated Quantum Secret Sharing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962400" y="3535680"/>
            <a:ext cx="7802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i="1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con NetSquid in ambiente semi-quantistico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62400" y="4389120"/>
            <a:ext cx="2316480" cy="1280160"/>
          </a:xfrm>
          <a:prstGeom prst="rect">
            <a:avLst/>
          </a:prstGeom>
          <a:solidFill>
            <a:srgbClr val="1323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62400" y="4389120"/>
            <a:ext cx="2316480" cy="720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962400" y="4462272"/>
            <a:ext cx="2316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2000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962400" y="5169408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simulati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22720" y="4389120"/>
            <a:ext cx="2316480" cy="1280160"/>
          </a:xfrm>
          <a:prstGeom prst="rect">
            <a:avLst/>
          </a:prstGeom>
          <a:solidFill>
            <a:srgbClr val="1323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22720" y="4389120"/>
            <a:ext cx="2316480" cy="720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22720" y="4462272"/>
            <a:ext cx="2316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5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22720" y="5169408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 testate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083040" y="4389120"/>
            <a:ext cx="2316480" cy="1280160"/>
          </a:xfrm>
          <a:prstGeom prst="rect">
            <a:avLst/>
          </a:prstGeom>
          <a:solidFill>
            <a:srgbClr val="1323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083040" y="4389120"/>
            <a:ext cx="2316480" cy="7200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083040" y="4462272"/>
            <a:ext cx="231648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0%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083040" y="5169408"/>
            <a:ext cx="23164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in ideale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962400" y="6339840"/>
            <a:ext cx="7437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8B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A.A. 2025-2026 					        Matteo Nocerino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09604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97357-5A5E-9A24-E754-51775452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76FF38-A10A-4599-451D-D21E56578BF5}"/>
              </a:ext>
            </a:extLst>
          </p:cNvPr>
          <p:cNvSpPr/>
          <p:nvPr/>
        </p:nvSpPr>
        <p:spPr>
          <a:xfrm>
            <a:off x="487680" y="243840"/>
            <a:ext cx="1109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Il Problema: Secret Sharing nelle Infrastrutture Cloud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B13F38D0-4897-FE87-4480-8CCAC12098CA}"/>
              </a:ext>
            </a:extLst>
          </p:cNvPr>
          <p:cNvSpPr/>
          <p:nvPr/>
        </p:nvSpPr>
        <p:spPr>
          <a:xfrm>
            <a:off x="487680" y="1362456"/>
            <a:ext cx="5242560" cy="4882896"/>
          </a:xfrm>
          <a:prstGeom prst="rect">
            <a:avLst/>
          </a:prstGeom>
          <a:solidFill>
            <a:srgbClr val="13233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F9D21255-958C-342C-563A-55B290932597}"/>
              </a:ext>
            </a:extLst>
          </p:cNvPr>
          <p:cNvSpPr/>
          <p:nvPr/>
        </p:nvSpPr>
        <p:spPr>
          <a:xfrm>
            <a:off x="487680" y="1362456"/>
            <a:ext cx="524256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Image 0">
            <a:extLst>
              <a:ext uri="{FF2B5EF4-FFF2-40B4-BE49-F238E27FC236}">
                <a16:creationId xmlns:a16="http://schemas.microsoft.com/office/drawing/2014/main" id="{9128E8E7-BE25-FD98-150D-9602B3DA7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520" y="1520952"/>
            <a:ext cx="487680" cy="487680"/>
          </a:xfrm>
          <a:prstGeom prst="rect">
            <a:avLst/>
          </a:prstGeom>
          <a:solidFill>
            <a:srgbClr val="0E9F8E"/>
          </a:solidFill>
        </p:spPr>
      </p:pic>
      <p:sp>
        <p:nvSpPr>
          <p:cNvPr id="34" name="Text 4">
            <a:extLst>
              <a:ext uri="{FF2B5EF4-FFF2-40B4-BE49-F238E27FC236}">
                <a16:creationId xmlns:a16="http://schemas.microsoft.com/office/drawing/2014/main" id="{78BDE886-6A8A-F434-49AC-875522995D7E}"/>
              </a:ext>
            </a:extLst>
          </p:cNvPr>
          <p:cNvSpPr/>
          <p:nvPr/>
        </p:nvSpPr>
        <p:spPr>
          <a:xfrm>
            <a:off x="1304544" y="1520952"/>
            <a:ext cx="4267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Shamir's Secret Sharing (classico)</a:t>
            </a: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54850259-04DD-1888-3E3F-6DD6CDCF203E}"/>
              </a:ext>
            </a:extLst>
          </p:cNvPr>
          <p:cNvSpPr/>
          <p:nvPr/>
        </p:nvSpPr>
        <p:spPr>
          <a:xfrm>
            <a:off x="670560" y="2093976"/>
            <a:ext cx="4876800" cy="3925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defTabSz="1219170">
              <a:spcAft>
                <a:spcPts val="933"/>
              </a:spcAft>
              <a:buClr>
                <a:srgbClr val="F4A26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segreto S viene suddiviso in N share tra N partecipanti</a:t>
            </a:r>
          </a:p>
          <a:p>
            <a:pPr defTabSz="1219170">
              <a:spcAft>
                <a:spcPts val="933"/>
              </a:spcAft>
              <a:buClr>
                <a:srgbClr val="F4A261"/>
              </a:buClr>
              <a:buSzPct val="100000"/>
            </a:pPr>
            <a:endParaRPr lang="en-US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buClr>
                <a:srgbClr val="F4A26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Qualsiasi sottoinsieme di k share può ricostruire S </a:t>
            </a:r>
          </a:p>
          <a:p>
            <a:pPr defTabSz="1219170">
              <a:spcAft>
                <a:spcPts val="933"/>
              </a:spcAft>
              <a:buClr>
                <a:srgbClr val="F4A261"/>
              </a:buClr>
              <a:buSzPct val="100000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(schema k-su-N)</a:t>
            </a:r>
          </a:p>
          <a:p>
            <a:pPr defTabSz="1219170">
              <a:spcAft>
                <a:spcPts val="933"/>
              </a:spcAft>
              <a:buClr>
                <a:srgbClr val="F4A261"/>
              </a:buClr>
              <a:buSzPct val="100000"/>
            </a:pPr>
            <a:endParaRPr lang="en-US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spcAft>
                <a:spcPts val="933"/>
              </a:spcAft>
              <a:buClr>
                <a:srgbClr val="F4A261"/>
              </a:buClr>
              <a:buSzPct val="100000"/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Vulnerabile: l'invio delle share nel cloud sfrutta crittografia asimmetrica classica, violabile dai computer quantistici</a:t>
            </a:r>
          </a:p>
          <a:p>
            <a:pPr defTabSz="1219170">
              <a:spcAft>
                <a:spcPts val="933"/>
              </a:spcAft>
              <a:buClr>
                <a:srgbClr val="F4A261"/>
              </a:buClr>
              <a:buSzPct val="100000"/>
            </a:pPr>
            <a:endParaRPr lang="en-US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spcAft>
                <a:spcPts val="933"/>
              </a:spcAft>
              <a:buClr>
                <a:srgbClr val="F4A261"/>
              </a:buClr>
              <a:buSzPct val="100000"/>
              <a:buFont typeface="Wingdings" panose="05000000000000000000" pitchFamily="2" charset="2"/>
              <a:buChar char="Ø"/>
            </a:pP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sicurezza (information-theoretic) dello schema matematico decade nelle implementazioni di rete reali</a:t>
            </a:r>
            <a:endParaRPr lang="en-US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6A0F187D-062C-0D20-D99D-6994FA723604}"/>
              </a:ext>
            </a:extLst>
          </p:cNvPr>
          <p:cNvSpPr/>
          <p:nvPr/>
        </p:nvSpPr>
        <p:spPr>
          <a:xfrm>
            <a:off x="5809488" y="3678936"/>
            <a:ext cx="438912" cy="438912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B1EB8CBB-0C5A-4EEC-B9AD-0DC254B5F008}"/>
              </a:ext>
            </a:extLst>
          </p:cNvPr>
          <p:cNvSpPr/>
          <p:nvPr/>
        </p:nvSpPr>
        <p:spPr>
          <a:xfrm>
            <a:off x="5815584" y="3678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 panose="020F0502020204030204"/>
              </a:rPr>
              <a:t>→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FA1AB78D-0243-4300-4254-6B62D22659AF}"/>
              </a:ext>
            </a:extLst>
          </p:cNvPr>
          <p:cNvSpPr/>
          <p:nvPr/>
        </p:nvSpPr>
        <p:spPr>
          <a:xfrm>
            <a:off x="6339840" y="1362456"/>
            <a:ext cx="5242560" cy="4882896"/>
          </a:xfrm>
          <a:prstGeom prst="rect">
            <a:avLst/>
          </a:prstGeom>
          <a:solidFill>
            <a:srgbClr val="132338"/>
          </a:solidFill>
          <a:ln w="15875">
            <a:noFill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58D68DD4-43EA-843A-B84D-E682782E306B}"/>
              </a:ext>
            </a:extLst>
          </p:cNvPr>
          <p:cNvSpPr/>
          <p:nvPr/>
        </p:nvSpPr>
        <p:spPr>
          <a:xfrm>
            <a:off x="6339840" y="1362456"/>
            <a:ext cx="5242560" cy="73152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2DB9CE88-0EBB-C7E3-D342-E7059A1A7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20952"/>
            <a:ext cx="487680" cy="487680"/>
          </a:xfrm>
          <a:prstGeom prst="rect">
            <a:avLst/>
          </a:prstGeom>
        </p:spPr>
      </p:pic>
      <p:sp>
        <p:nvSpPr>
          <p:cNvPr id="41" name="Text 10">
            <a:extLst>
              <a:ext uri="{FF2B5EF4-FFF2-40B4-BE49-F238E27FC236}">
                <a16:creationId xmlns:a16="http://schemas.microsoft.com/office/drawing/2014/main" id="{27800F3C-B79A-1DF7-602F-50748C95ABD9}"/>
              </a:ext>
            </a:extLst>
          </p:cNvPr>
          <p:cNvSpPr/>
          <p:nvPr/>
        </p:nvSpPr>
        <p:spPr>
          <a:xfrm>
            <a:off x="7156704" y="1520952"/>
            <a:ext cx="4267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Secret Sharing (QSS)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8537CADA-2928-6608-82EE-BBC35CF5D6BE}"/>
              </a:ext>
            </a:extLst>
          </p:cNvPr>
          <p:cNvSpPr/>
          <p:nvPr/>
        </p:nvSpPr>
        <p:spPr>
          <a:xfrm>
            <a:off x="6522720" y="2093976"/>
            <a:ext cx="4876800" cy="3925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defTabSz="1219170">
              <a:spcAft>
                <a:spcPts val="933"/>
              </a:spcAft>
              <a:buClr>
                <a:srgbClr val="0E9F8E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basata su leggi fisiche, non computazionali</a:t>
            </a:r>
          </a:p>
          <a:p>
            <a:pPr defTabSz="1219170">
              <a:spcAft>
                <a:spcPts val="933"/>
              </a:spcAft>
              <a:buClr>
                <a:srgbClr val="0E9F8E"/>
              </a:buClr>
              <a:buSzPct val="100000"/>
            </a:pPr>
            <a:endParaRPr lang="en-US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buClr>
                <a:srgbClr val="0E9F8E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Qualsiasi intercettazione introduce errori rilevabili </a:t>
            </a:r>
          </a:p>
          <a:p>
            <a:pPr defTabSz="1219170">
              <a:spcAft>
                <a:spcPts val="933"/>
              </a:spcAft>
              <a:buClr>
                <a:srgbClr val="0E9F8E"/>
              </a:buClr>
              <a:buSzPct val="100000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(no-cloning theorem)</a:t>
            </a:r>
          </a:p>
          <a:p>
            <a:pPr defTabSz="1219170">
              <a:spcAft>
                <a:spcPts val="933"/>
              </a:spcAft>
              <a:buClr>
                <a:srgbClr val="0E9F8E"/>
              </a:buClr>
              <a:buSzPct val="100000"/>
            </a:pPr>
            <a:endParaRPr lang="en-US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spcAft>
                <a:spcPts val="933"/>
              </a:spcAft>
              <a:buClr>
                <a:srgbClr val="0E9F8E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Resistente a computer quantistici  —  post-quantum by construction</a:t>
            </a:r>
          </a:p>
          <a:p>
            <a:pPr defTabSz="1219170">
              <a:spcAft>
                <a:spcPts val="933"/>
              </a:spcAft>
              <a:buClr>
                <a:srgbClr val="0E9F8E"/>
              </a:buClr>
              <a:buSzPct val="100000"/>
            </a:pPr>
            <a:endParaRPr lang="en-US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 defTabSz="1219170">
              <a:spcAft>
                <a:spcPts val="933"/>
              </a:spcAft>
              <a:buClr>
                <a:srgbClr val="0E9F8E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M2M-MQSS: N dealer + M agent, mediatore non fidato, ambiente semi-quantistico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6955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43840"/>
            <a:ext cx="11216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Architettura del Protocollo M2M-MQSS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 flipH="1">
            <a:off x="3135933" y="3061200"/>
            <a:ext cx="848070" cy="792480"/>
          </a:xfrm>
          <a:prstGeom prst="line">
            <a:avLst/>
          </a:prstGeom>
          <a:noFill/>
          <a:ln w="19050">
            <a:solidFill>
              <a:srgbClr val="00B4A6"/>
            </a:solidFill>
            <a:prstDash val="sysDot"/>
          </a:ln>
        </p:spPr>
        <p:txBody>
          <a:bodyPr/>
          <a:lstStyle/>
          <a:p>
            <a:endParaRPr lang="it-IT" dirty="0"/>
          </a:p>
        </p:txBody>
      </p:sp>
      <p:sp>
        <p:nvSpPr>
          <p:cNvPr id="8" name="Shape 6"/>
          <p:cNvSpPr/>
          <p:nvPr/>
        </p:nvSpPr>
        <p:spPr>
          <a:xfrm>
            <a:off x="8207996" y="3057009"/>
            <a:ext cx="848070" cy="802162"/>
          </a:xfrm>
          <a:prstGeom prst="line">
            <a:avLst/>
          </a:prstGeom>
          <a:noFill/>
          <a:ln w="19050">
            <a:solidFill>
              <a:srgbClr val="00B4A6"/>
            </a:solidFill>
            <a:prstDash val="sysDot"/>
          </a:ln>
        </p:spPr>
        <p:txBody>
          <a:bodyPr/>
          <a:lstStyle/>
          <a:p>
            <a:endParaRPr lang="it-IT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13338A3B-3C9C-13E6-FD55-39DAEDC5BD9B}"/>
              </a:ext>
            </a:extLst>
          </p:cNvPr>
          <p:cNvSpPr/>
          <p:nvPr/>
        </p:nvSpPr>
        <p:spPr>
          <a:xfrm>
            <a:off x="3984003" y="1382387"/>
            <a:ext cx="4223993" cy="1674622"/>
          </a:xfrm>
          <a:prstGeom prst="rect">
            <a:avLst/>
          </a:prstGeom>
          <a:solidFill>
            <a:srgbClr val="132338"/>
          </a:solidFill>
          <a:ln w="15875">
            <a:noFill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3C66BD40-3CE4-6FD6-6EAC-6C9761076B04}"/>
              </a:ext>
            </a:extLst>
          </p:cNvPr>
          <p:cNvSpPr/>
          <p:nvPr/>
        </p:nvSpPr>
        <p:spPr>
          <a:xfrm>
            <a:off x="3984003" y="1382387"/>
            <a:ext cx="4223993" cy="8128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E899CC3-B30A-62F0-4852-125B8DD2E6B7}"/>
              </a:ext>
            </a:extLst>
          </p:cNvPr>
          <p:cNvSpPr/>
          <p:nvPr/>
        </p:nvSpPr>
        <p:spPr>
          <a:xfrm>
            <a:off x="4800867" y="1494824"/>
            <a:ext cx="3143929" cy="541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(Mediatore)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3D1B886-DF3D-B292-0B06-D599F26CD829}"/>
              </a:ext>
            </a:extLst>
          </p:cNvPr>
          <p:cNvSpPr/>
          <p:nvPr/>
        </p:nvSpPr>
        <p:spPr>
          <a:xfrm>
            <a:off x="4166884" y="2113751"/>
            <a:ext cx="3803140" cy="731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spcAft>
                <a:spcPts val="933"/>
              </a:spcAft>
              <a:buClr>
                <a:srgbClr val="0E9F8E"/>
              </a:buClr>
              <a:buSzPct val="100000"/>
            </a:pPr>
            <a:r>
              <a:rPr lang="it-IT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Ruolo</a:t>
            </a: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: Nodo quantistico non fidato. Genera e distribuisce il </a:t>
            </a:r>
            <a:r>
              <a:rPr lang="it-IT" sz="14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Complete Graph State</a:t>
            </a: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 tramite canali quantistici.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8D28BB78-EBF3-245E-2DFF-A4C23827E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884" y="1516709"/>
            <a:ext cx="569108" cy="544000"/>
          </a:xfrm>
          <a:prstGeom prst="rect">
            <a:avLst/>
          </a:prstGeom>
        </p:spPr>
      </p:pic>
      <p:sp>
        <p:nvSpPr>
          <p:cNvPr id="31" name="Shape 8">
            <a:extLst>
              <a:ext uri="{FF2B5EF4-FFF2-40B4-BE49-F238E27FC236}">
                <a16:creationId xmlns:a16="http://schemas.microsoft.com/office/drawing/2014/main" id="{607ED860-522D-E6C0-8F24-1BD4FB2BFB2B}"/>
              </a:ext>
            </a:extLst>
          </p:cNvPr>
          <p:cNvSpPr/>
          <p:nvPr/>
        </p:nvSpPr>
        <p:spPr>
          <a:xfrm>
            <a:off x="1023936" y="3853680"/>
            <a:ext cx="4223993" cy="1674622"/>
          </a:xfrm>
          <a:prstGeom prst="rect">
            <a:avLst/>
          </a:prstGeom>
          <a:solidFill>
            <a:srgbClr val="132338"/>
          </a:solidFill>
          <a:ln w="15875">
            <a:noFill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036D486D-48B4-77F6-B117-E872A2CB1FF7}"/>
              </a:ext>
            </a:extLst>
          </p:cNvPr>
          <p:cNvSpPr/>
          <p:nvPr/>
        </p:nvSpPr>
        <p:spPr>
          <a:xfrm>
            <a:off x="1023936" y="3853680"/>
            <a:ext cx="4223993" cy="8128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EBADE26-48B3-BC3B-FC35-CADF755E44A7}"/>
              </a:ext>
            </a:extLst>
          </p:cNvPr>
          <p:cNvSpPr/>
          <p:nvPr/>
        </p:nvSpPr>
        <p:spPr>
          <a:xfrm>
            <a:off x="1840800" y="3966117"/>
            <a:ext cx="3143929" cy="541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(Alice)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0949CA29-0B08-249F-F7A9-28FF2EA9EB25}"/>
              </a:ext>
            </a:extLst>
          </p:cNvPr>
          <p:cNvSpPr/>
          <p:nvPr/>
        </p:nvSpPr>
        <p:spPr>
          <a:xfrm>
            <a:off x="1206817" y="4585044"/>
            <a:ext cx="3803140" cy="731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buClr>
                <a:srgbClr val="000000"/>
              </a:buClr>
              <a:defRPr/>
            </a:pPr>
            <a:r>
              <a:rPr lang="it-IT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Azione</a:t>
            </a: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: Misura Z/X-basis del qubit ricevuto. Annuncia </a:t>
            </a:r>
            <a:r>
              <a:rPr lang="it-IT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E = K ⊕ S </a:t>
            </a: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sul canale pubblico. Ogni Alice opera indipendentemente.</a:t>
            </a:r>
            <a:endParaRPr lang="it-IT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Arial"/>
            </a:endParaRP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047BEE36-FD97-8C81-5D05-FB2B5883D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6817" y="3988002"/>
            <a:ext cx="569107" cy="544000"/>
          </a:xfrm>
          <a:prstGeom prst="rect">
            <a:avLst/>
          </a:prstGeom>
        </p:spPr>
      </p:pic>
      <p:sp>
        <p:nvSpPr>
          <p:cNvPr id="38" name="Shape 8">
            <a:extLst>
              <a:ext uri="{FF2B5EF4-FFF2-40B4-BE49-F238E27FC236}">
                <a16:creationId xmlns:a16="http://schemas.microsoft.com/office/drawing/2014/main" id="{78202D6E-C43B-BEF7-B667-374BF1BB6CCB}"/>
              </a:ext>
            </a:extLst>
          </p:cNvPr>
          <p:cNvSpPr/>
          <p:nvPr/>
        </p:nvSpPr>
        <p:spPr>
          <a:xfrm>
            <a:off x="6944073" y="3853680"/>
            <a:ext cx="4223993" cy="1674622"/>
          </a:xfrm>
          <a:prstGeom prst="rect">
            <a:avLst/>
          </a:prstGeom>
          <a:solidFill>
            <a:srgbClr val="132338"/>
          </a:solidFill>
          <a:ln w="15875">
            <a:noFill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646337C3-C9A5-B69B-4E26-0514347280CD}"/>
              </a:ext>
            </a:extLst>
          </p:cNvPr>
          <p:cNvSpPr/>
          <p:nvPr/>
        </p:nvSpPr>
        <p:spPr>
          <a:xfrm>
            <a:off x="6944073" y="3853680"/>
            <a:ext cx="4223993" cy="81280"/>
          </a:xfrm>
          <a:prstGeom prst="rect">
            <a:avLst/>
          </a:prstGeom>
          <a:solidFill>
            <a:srgbClr val="0E9F8E"/>
          </a:solidFill>
          <a:ln/>
        </p:spPr>
        <p:txBody>
          <a:bodyPr/>
          <a:lstStyle/>
          <a:p>
            <a:pPr defTabSz="1219170"/>
            <a:endParaRPr lang="it-IT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890ACC5E-0A67-19DC-4588-306057A52FF0}"/>
              </a:ext>
            </a:extLst>
          </p:cNvPr>
          <p:cNvSpPr/>
          <p:nvPr/>
        </p:nvSpPr>
        <p:spPr>
          <a:xfrm>
            <a:off x="7760937" y="3966117"/>
            <a:ext cx="3143929" cy="541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(Bob)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0F63FB27-63B3-B5F0-5744-932EFD928DB0}"/>
              </a:ext>
            </a:extLst>
          </p:cNvPr>
          <p:cNvSpPr/>
          <p:nvPr/>
        </p:nvSpPr>
        <p:spPr>
          <a:xfrm>
            <a:off x="7126954" y="4585044"/>
            <a:ext cx="3803140" cy="731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buClr>
                <a:srgbClr val="000000"/>
              </a:buClr>
              <a:defRPr/>
            </a:pPr>
            <a:r>
              <a:rPr lang="it-IT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Azione</a:t>
            </a: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: Misura Z/X-basis. Deve </a:t>
            </a:r>
            <a:r>
              <a:rPr lang="it-IT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cooperare</a:t>
            </a:r>
            <a:r>
              <a:rPr lang="it-IT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DM Sans"/>
              </a:rPr>
              <a:t> con gli altri Agents per ricostruire la Master Key tramite XOR delle share.</a:t>
            </a:r>
            <a:endParaRPr lang="it-IT" sz="14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  <a:sym typeface="Arial"/>
            </a:endParaRPr>
          </a:p>
        </p:txBody>
      </p:sp>
      <p:pic>
        <p:nvPicPr>
          <p:cNvPr id="42" name="Immagine 41">
            <a:extLst>
              <a:ext uri="{FF2B5EF4-FFF2-40B4-BE49-F238E27FC236}">
                <a16:creationId xmlns:a16="http://schemas.microsoft.com/office/drawing/2014/main" id="{A1E2E5BD-F32A-0D68-A8CD-122505911A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6954" y="3988002"/>
            <a:ext cx="569107" cy="544000"/>
          </a:xfrm>
          <a:prstGeom prst="rect">
            <a:avLst/>
          </a:prstGeom>
        </p:spPr>
      </p:pic>
      <p:sp>
        <p:nvSpPr>
          <p:cNvPr id="47" name="Google Shape;113;p15">
            <a:extLst>
              <a:ext uri="{FF2B5EF4-FFF2-40B4-BE49-F238E27FC236}">
                <a16:creationId xmlns:a16="http://schemas.microsoft.com/office/drawing/2014/main" id="{55186A7D-9873-B116-0C2D-E526BD06BB21}"/>
              </a:ext>
            </a:extLst>
          </p:cNvPr>
          <p:cNvSpPr txBox="1"/>
          <p:nvPr/>
        </p:nvSpPr>
        <p:spPr>
          <a:xfrm>
            <a:off x="3062286" y="6057249"/>
            <a:ext cx="606742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DM Sans"/>
                <a:cs typeface="DM Sans"/>
                <a:sym typeface="DM Sans"/>
              </a:rPr>
              <a:t>*Nota: La sicurezza è garantita dalla proprietà di correlazione intrinseca del Graph State.*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2354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43840"/>
            <a:ext cx="11582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Passi del Protocollo M2M-MQSS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1127760"/>
            <a:ext cx="5242560" cy="17068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Shape 2"/>
          <p:cNvSpPr/>
          <p:nvPr/>
        </p:nvSpPr>
        <p:spPr>
          <a:xfrm>
            <a:off x="487680" y="1127760"/>
            <a:ext cx="585216" cy="170688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487680" y="1127760"/>
            <a:ext cx="585216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8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" y="1225296"/>
            <a:ext cx="4329953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Generazione Graph State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219200" y="1712976"/>
                <a:ext cx="4329953" cy="1036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Il TP genera un complete graph state di N+M qubit. Ogni qubit è inizializzato in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con H, poi si applica CZ su ogni coppia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</m:t>
                        </m:r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712976"/>
                <a:ext cx="4329953" cy="1036320"/>
              </a:xfrm>
              <a:prstGeom prst="rect">
                <a:avLst/>
              </a:prstGeom>
              <a:blipFill>
                <a:blip r:embed="rId3"/>
                <a:stretch>
                  <a:fillRect l="-423" r="-141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6461760" y="1127760"/>
            <a:ext cx="5242560" cy="1706880"/>
          </a:xfrm>
          <a:prstGeom prst="rect">
            <a:avLst/>
          </a:prstGeom>
          <a:solidFill>
            <a:srgbClr val="1B2838"/>
          </a:solidFill>
          <a:ln w="190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Shape 7"/>
          <p:cNvSpPr/>
          <p:nvPr/>
        </p:nvSpPr>
        <p:spPr>
          <a:xfrm>
            <a:off x="6461760" y="1127760"/>
            <a:ext cx="585216" cy="17068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6461760" y="1127760"/>
            <a:ext cx="585216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 9"/>
          <p:cNvSpPr/>
          <p:nvPr/>
        </p:nvSpPr>
        <p:spPr>
          <a:xfrm>
            <a:off x="7193280" y="1225296"/>
            <a:ext cx="436222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Distribuzione</a:t>
            </a:r>
          </a:p>
        </p:txBody>
      </p:sp>
      <p:sp>
        <p:nvSpPr>
          <p:cNvPr id="12" name="Text 10"/>
          <p:cNvSpPr/>
          <p:nvPr/>
        </p:nvSpPr>
        <p:spPr>
          <a:xfrm>
            <a:off x="7193280" y="1712976"/>
            <a:ext cx="4362226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TP invia un qubit a ciascun partecipante via canale quantistico. I qubit sono soggetti a rumore (depolarizing, dephasing) durante la trasmissione.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3017520"/>
            <a:ext cx="5242560" cy="17068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4" name="Shape 12"/>
          <p:cNvSpPr/>
          <p:nvPr/>
        </p:nvSpPr>
        <p:spPr>
          <a:xfrm>
            <a:off x="487680" y="3017520"/>
            <a:ext cx="585216" cy="170688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5" name="Text 13"/>
          <p:cNvSpPr/>
          <p:nvPr/>
        </p:nvSpPr>
        <p:spPr>
          <a:xfrm>
            <a:off x="487680" y="3017520"/>
            <a:ext cx="585216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 14"/>
          <p:cNvSpPr/>
          <p:nvPr/>
        </p:nvSpPr>
        <p:spPr>
          <a:xfrm>
            <a:off x="1219200" y="3115056"/>
            <a:ext cx="4329953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Misura dei Partecipanti</a:t>
            </a:r>
          </a:p>
        </p:txBody>
      </p:sp>
      <p:sp>
        <p:nvSpPr>
          <p:cNvPr id="17" name="Text 15"/>
          <p:cNvSpPr/>
          <p:nvPr/>
        </p:nvSpPr>
        <p:spPr>
          <a:xfrm>
            <a:off x="1219200" y="3602736"/>
            <a:ext cx="4329953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partecipante sceglie casualmente Z-basis o X-basis (H poi Z). Il round è valido SOLO se il numero di X-basis è dispari.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61760" y="3017520"/>
            <a:ext cx="5242560" cy="1706880"/>
          </a:xfrm>
          <a:prstGeom prst="rect">
            <a:avLst/>
          </a:prstGeom>
          <a:solidFill>
            <a:srgbClr val="1B2838"/>
          </a:solidFill>
          <a:ln w="190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9" name="Shape 17"/>
          <p:cNvSpPr/>
          <p:nvPr/>
        </p:nvSpPr>
        <p:spPr>
          <a:xfrm>
            <a:off x="6461760" y="3017520"/>
            <a:ext cx="585216" cy="17068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Text 18"/>
          <p:cNvSpPr/>
          <p:nvPr/>
        </p:nvSpPr>
        <p:spPr>
          <a:xfrm>
            <a:off x="6461760" y="3017520"/>
            <a:ext cx="585216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 19"/>
          <p:cNvSpPr/>
          <p:nvPr/>
        </p:nvSpPr>
        <p:spPr>
          <a:xfrm>
            <a:off x="7193280" y="3115056"/>
            <a:ext cx="436222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Check &amp; Key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7193280" y="3602736"/>
                <a:ext cx="4362226" cy="1036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50% 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𝑑𝑒𝑖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𝑟𝑜𝑢𝑛𝑑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𝑣𝑎𝑙𝑖𝑑𝑖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→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𝑐h𝑒𝑐𝑘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𝑏𝑖𝑡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 rilevare </a:t>
                </a:r>
                <a:r>
                  <a:rPr lang="en-US" sz="1400" i="1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eavesdropping</a:t>
                </a:r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Se error rate &gt; 11%: sessione abortita. </a:t>
                </a:r>
              </a:p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Il restante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50%→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𝑘𝑒𝑦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𝑏𝑖𝑡𝑠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280" y="3602736"/>
                <a:ext cx="4362226" cy="1036320"/>
              </a:xfrm>
              <a:prstGeom prst="rect">
                <a:avLst/>
              </a:prstGeom>
              <a:blipFill>
                <a:blip r:embed="rId4"/>
                <a:stretch>
                  <a:fillRect l="-419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487680" y="4907280"/>
            <a:ext cx="5242560" cy="17068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4" name="Shape 22"/>
          <p:cNvSpPr/>
          <p:nvPr/>
        </p:nvSpPr>
        <p:spPr>
          <a:xfrm>
            <a:off x="487680" y="4907280"/>
            <a:ext cx="585216" cy="170688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23"/>
          <p:cNvSpPr/>
          <p:nvPr/>
        </p:nvSpPr>
        <p:spPr>
          <a:xfrm>
            <a:off x="487680" y="4907280"/>
            <a:ext cx="585216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 24"/>
          <p:cNvSpPr/>
          <p:nvPr/>
        </p:nvSpPr>
        <p:spPr>
          <a:xfrm>
            <a:off x="1219200" y="5004816"/>
            <a:ext cx="4329953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Annuncio Dealers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1219200" y="5492496"/>
                <a:ext cx="4329953" cy="1036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Ogni dealer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𝐴𝑙𝑖𝑐</m:t>
                    </m:r>
                    <m:sSub>
                      <m:sSubPr>
                        <m:ctrlPr>
                          <a:rPr lang="it-IT" sz="1400" b="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𝑒</m:t>
                        </m:r>
                      </m:e>
                      <m:sub>
                        <m:r>
                          <a:rPr lang="it-IT" sz="1400" b="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calcola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𝐸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⊕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 lo annuncia pubblicamente. Il TP non può ricavare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𝐸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senza i risultati degli agents.</a:t>
                </a: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5492496"/>
                <a:ext cx="4329953" cy="1036320"/>
              </a:xfrm>
              <a:prstGeom prst="rect">
                <a:avLst/>
              </a:prstGeom>
              <a:blipFill>
                <a:blip r:embed="rId5"/>
                <a:stretch>
                  <a:fillRect l="-423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6461760" y="4907280"/>
            <a:ext cx="5242560" cy="1706880"/>
          </a:xfrm>
          <a:prstGeom prst="rect">
            <a:avLst/>
          </a:prstGeom>
          <a:solidFill>
            <a:srgbClr val="1B2838"/>
          </a:solidFill>
          <a:ln w="1905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9" name="Shape 27"/>
          <p:cNvSpPr/>
          <p:nvPr/>
        </p:nvSpPr>
        <p:spPr>
          <a:xfrm>
            <a:off x="6461760" y="4907280"/>
            <a:ext cx="585216" cy="17068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0" name="Text 28"/>
          <p:cNvSpPr/>
          <p:nvPr/>
        </p:nvSpPr>
        <p:spPr>
          <a:xfrm>
            <a:off x="6461760" y="4907280"/>
            <a:ext cx="585216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8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 29"/>
          <p:cNvSpPr/>
          <p:nvPr/>
        </p:nvSpPr>
        <p:spPr>
          <a:xfrm>
            <a:off x="7193280" y="5004816"/>
            <a:ext cx="436222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Recupero Agents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30"/>
              <p:cNvSpPr/>
              <p:nvPr/>
            </p:nvSpPr>
            <p:spPr>
              <a:xfrm>
                <a:off x="7193280" y="5492496"/>
                <a:ext cx="4511040" cy="1036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Gli agents ricostruiscono: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e>
                      <m:sub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𝑚𝑎𝑠𝑡𝑒𝑟</m:t>
                        </m:r>
                      </m:sub>
                    </m:sSub>
                    <m:r>
                      <a:rPr lang="it-IT" sz="1400" noProof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</m:t>
                    </m:r>
                    <m:r>
                      <m:rPr>
                        <m:nor/>
                      </m:rPr>
                      <a:rPr lang="it-IT" sz="1400" noProof="1" dirty="0" smtClean="0">
                        <a:solidFill>
                          <a:srgbClr val="E8EDF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⊕</m:t>
                    </m:r>
                    <m:sSub>
                      <m:sSubPr>
                        <m:ctrlPr>
                          <a:rPr lang="it-IT" sz="1400" i="1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 </m:t>
                        </m:r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𝐸</m:t>
                        </m:r>
                      </m:e>
                      <m:sub>
                        <m:r>
                          <a:rPr lang="it-IT" sz="1400" b="0" i="1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it-IT" sz="1400" b="0" i="0" noProof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nor/>
                      </m:rPr>
                      <a:rPr lang="it-IT" sz="1400" noProof="1" dirty="0" smtClean="0">
                        <a:solidFill>
                          <a:srgbClr val="E8EDF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⨁</m:t>
                    </m:r>
                    <m:r>
                      <a:rPr lang="it-IT" sz="1400" b="0" i="1" noProof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⊕</m:t>
                    </m:r>
                    <m:sSub>
                      <m:sSubPr>
                        <m:ctrlPr>
                          <a:rPr lang="it-IT" sz="1400" i="1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</m:e>
                      <m:sub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𝐵𝑗</m:t>
                        </m:r>
                      </m:sub>
                    </m:sSub>
                    <m:r>
                      <m:rPr>
                        <m:nor/>
                      </m:rPr>
                      <a:rPr lang="it-IT" sz="1400" noProof="1" dirty="0" smtClean="0">
                        <a:solidFill>
                          <a:srgbClr val="E8EDF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⨁</m:t>
                    </m:r>
                    <m:r>
                      <m:rPr>
                        <m:nor/>
                      </m:rPr>
                      <a:rPr lang="it-IT" sz="1400" b="0" i="0" noProof="1" dirty="0" smtClean="0">
                        <a:solidFill>
                          <a:srgbClr val="E8EDF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sSub>
                      <m:sSubPr>
                        <m:ctrlPr>
                          <a:rPr lang="it-IT" sz="1400" i="1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𝑏</m:t>
                        </m:r>
                      </m:e>
                      <m:sub>
                        <m:r>
                          <a:rPr lang="it-IT" sz="1400" noProof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</a:t>
                </a:r>
              </a:p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Tutti gli agents devono cooperare  —  nessuno può farlo da solo. </a:t>
                </a:r>
              </a:p>
            </p:txBody>
          </p:sp>
        </mc:Choice>
        <mc:Fallback xmlns="">
          <p:sp>
            <p:nvSpPr>
              <p:cNvPr id="32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280" y="5492496"/>
                <a:ext cx="4511040" cy="1036320"/>
              </a:xfrm>
              <a:prstGeom prst="rect">
                <a:avLst/>
              </a:prstGeom>
              <a:blipFill>
                <a:blip r:embed="rId6"/>
                <a:stretch>
                  <a:fillRect l="-405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283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magine 41">
            <a:extLst>
              <a:ext uri="{FF2B5EF4-FFF2-40B4-BE49-F238E27FC236}">
                <a16:creationId xmlns:a16="http://schemas.microsoft.com/office/drawing/2014/main" id="{932C0287-C4CB-1A00-5BA4-BDAC3E701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1788" y="853440"/>
            <a:ext cx="6568424" cy="57607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87680" y="243840"/>
            <a:ext cx="11216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Sequence Diagram — Protocollo M2M-MQSS (N=2, M=2)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9472" y="6152659"/>
            <a:ext cx="609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5" name="Text 33"/>
          <p:cNvSpPr/>
          <p:nvPr/>
        </p:nvSpPr>
        <p:spPr>
          <a:xfrm>
            <a:off x="1099072" y="6004560"/>
            <a:ext cx="1402077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quantistico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9473" y="6466424"/>
            <a:ext cx="609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it-IT" dirty="0"/>
          </a:p>
        </p:txBody>
      </p:sp>
      <p:sp>
        <p:nvSpPr>
          <p:cNvPr id="37" name="Text 35"/>
          <p:cNvSpPr/>
          <p:nvPr/>
        </p:nvSpPr>
        <p:spPr>
          <a:xfrm>
            <a:off x="1099073" y="6309360"/>
            <a:ext cx="1402076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classico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06140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322B0-87AE-E364-5243-7BB73AC3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C749FF-51A3-5BA5-4651-1AEB9CC1F5AF}"/>
              </a:ext>
            </a:extLst>
          </p:cNvPr>
          <p:cNvSpPr/>
          <p:nvPr/>
        </p:nvSpPr>
        <p:spPr>
          <a:xfrm>
            <a:off x="487680" y="243840"/>
            <a:ext cx="112166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Component Diagram — Architettura Software M2M-MQSS</a:t>
            </a:r>
            <a:endParaRPr lang="en-US" sz="3200" dirty="0">
              <a:solidFill>
                <a:prstClr val="black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2B5E5CB-6904-A121-9309-65DAFE531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64" y="1261645"/>
            <a:ext cx="9054671" cy="535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35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94C31-176C-8ADF-F957-2E34AAF5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3E8422-1E08-867E-7CD8-0A97A5E3BCE2}"/>
              </a:ext>
            </a:extLst>
          </p:cNvPr>
          <p:cNvSpPr/>
          <p:nvPr/>
        </p:nvSpPr>
        <p:spPr>
          <a:xfrm>
            <a:off x="487680" y="243840"/>
            <a:ext cx="11414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Implementazione: NetSquid &amp; Modello di Rumore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83EB527-0257-C442-1002-C276263DEBD1}"/>
              </a:ext>
            </a:extLst>
          </p:cNvPr>
          <p:cNvSpPr/>
          <p:nvPr/>
        </p:nvSpPr>
        <p:spPr>
          <a:xfrm>
            <a:off x="487680" y="1019024"/>
            <a:ext cx="5730240" cy="108000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5CE9838-DA3A-7430-082A-0731647B61BC}"/>
              </a:ext>
            </a:extLst>
          </p:cNvPr>
          <p:cNvSpPr/>
          <p:nvPr/>
        </p:nvSpPr>
        <p:spPr>
          <a:xfrm>
            <a:off x="487680" y="1019024"/>
            <a:ext cx="73152" cy="108000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D4DBAB4-5FCD-AC3A-C896-D647C66320BA}"/>
              </a:ext>
            </a:extLst>
          </p:cNvPr>
          <p:cNvSpPr/>
          <p:nvPr/>
        </p:nvSpPr>
        <p:spPr>
          <a:xfrm>
            <a:off x="731520" y="1079984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  <a:ea typeface="Consolas" pitchFamily="34" charset="-122"/>
                <a:cs typeface="Consolas" pitchFamily="34" charset="-120"/>
              </a:rPr>
              <a:t>create_complete_graph_state()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137CE875-D3AD-2873-35F4-C41666681DBB}"/>
                  </a:ext>
                </a:extLst>
              </p:cNvPr>
              <p:cNvSpPr/>
              <p:nvPr/>
            </p:nvSpPr>
            <p:spPr>
              <a:xfrm>
                <a:off x="731520" y="1531088"/>
                <a:ext cx="53644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𝐻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|0⟩+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𝐶𝑍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ea typeface="Calibri" pitchFamily="34" charset="-122"/>
                    <a:cs typeface="Calibri" pitchFamily="34" charset="-120"/>
                  </a:rPr>
                  <a:t> su ogni coppia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en-US" sz="1400" i="1" dirty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𝑖</m:t>
                    </m:r>
                    <m:r>
                      <a:rPr lang="en-US" sz="1400" i="1" dirty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en-US" sz="1400" i="1" dirty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𝑗</m:t>
                    </m:r>
                    <m:r>
                      <a:rPr lang="en-US" sz="1400" i="1" dirty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  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ea typeface="Calibri" pitchFamily="34" charset="-122"/>
                    <a:cs typeface="Calibri" pitchFamily="34" charset="-120"/>
                  </a:rPr>
                  <a:t>—  formalismo DM</a:t>
                </a:r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" name="Text 4">
                <a:extLst>
                  <a:ext uri="{FF2B5EF4-FFF2-40B4-BE49-F238E27FC236}">
                    <a16:creationId xmlns:a16="http://schemas.microsoft.com/office/drawing/2014/main" id="{137CE875-D3AD-2873-35F4-C41666681D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531088"/>
                <a:ext cx="5364480" cy="54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6">
            <a:extLst>
              <a:ext uri="{FF2B5EF4-FFF2-40B4-BE49-F238E27FC236}">
                <a16:creationId xmlns:a16="http://schemas.microsoft.com/office/drawing/2014/main" id="{B80E07A7-37D8-C102-5F37-A99F02BF1665}"/>
              </a:ext>
            </a:extLst>
          </p:cNvPr>
          <p:cNvSpPr/>
          <p:nvPr/>
        </p:nvSpPr>
        <p:spPr>
          <a:xfrm>
            <a:off x="487680" y="2308570"/>
            <a:ext cx="5730240" cy="108000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DA46E83-37A5-D032-2B15-9D90BA68114F}"/>
              </a:ext>
            </a:extLst>
          </p:cNvPr>
          <p:cNvSpPr/>
          <p:nvPr/>
        </p:nvSpPr>
        <p:spPr>
          <a:xfrm>
            <a:off x="487680" y="2315024"/>
            <a:ext cx="73152" cy="108000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22F10E8-4102-8E43-245F-6234F756F3C7}"/>
              </a:ext>
            </a:extLst>
          </p:cNvPr>
          <p:cNvSpPr/>
          <p:nvPr/>
        </p:nvSpPr>
        <p:spPr>
          <a:xfrm>
            <a:off x="731520" y="2375984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</a:rPr>
              <a:t>apply_channel_noise()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3BC41B6D-3167-4D61-0258-32789EFB55DE}"/>
                  </a:ext>
                </a:extLst>
              </p:cNvPr>
              <p:cNvSpPr/>
              <p:nvPr/>
            </p:nvSpPr>
            <p:spPr>
              <a:xfrm>
                <a:off x="731520" y="2827088"/>
                <a:ext cx="53644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ea typeface="Calibri" pitchFamily="34" charset="-122"/>
                    <a:cs typeface="Calibri" pitchFamily="34" charset="-120"/>
                  </a:rPr>
                  <a:t>Depolarizing: X, Y, Z con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/3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ea typeface="Calibri" pitchFamily="34" charset="-122"/>
                    <a:cs typeface="Calibri" pitchFamily="34" charset="-120"/>
                  </a:rPr>
                  <a:t>  —  Dephasing: solo Z con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𝑝</m:t>
                    </m:r>
                  </m:oMath>
                </a14:m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3BC41B6D-3167-4D61-0258-32789EFB55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827088"/>
                <a:ext cx="5364480" cy="548640"/>
              </a:xfrm>
              <a:prstGeom prst="rect">
                <a:avLst/>
              </a:prstGeom>
              <a:blipFill>
                <a:blip r:embed="rId4"/>
                <a:stretch>
                  <a:fillRect l="-341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1">
            <a:extLst>
              <a:ext uri="{FF2B5EF4-FFF2-40B4-BE49-F238E27FC236}">
                <a16:creationId xmlns:a16="http://schemas.microsoft.com/office/drawing/2014/main" id="{7D695B33-8920-19A2-C842-47E43E4D310A}"/>
              </a:ext>
            </a:extLst>
          </p:cNvPr>
          <p:cNvSpPr/>
          <p:nvPr/>
        </p:nvSpPr>
        <p:spPr>
          <a:xfrm>
            <a:off x="487680" y="3604570"/>
            <a:ext cx="5730240" cy="108000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275720D-AAD2-20C2-FAE4-9D5A49CE9314}"/>
              </a:ext>
            </a:extLst>
          </p:cNvPr>
          <p:cNvSpPr/>
          <p:nvPr/>
        </p:nvSpPr>
        <p:spPr>
          <a:xfrm>
            <a:off x="487680" y="3604570"/>
            <a:ext cx="73152" cy="108000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5266ACF-5C47-5FD0-33F9-025D5FC6021E}"/>
              </a:ext>
            </a:extLst>
          </p:cNvPr>
          <p:cNvSpPr/>
          <p:nvPr/>
        </p:nvSpPr>
        <p:spPr>
          <a:xfrm>
            <a:off x="731520" y="366553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</a:rPr>
              <a:t>run_single_round()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4">
                <a:extLst>
                  <a:ext uri="{FF2B5EF4-FFF2-40B4-BE49-F238E27FC236}">
                    <a16:creationId xmlns:a16="http://schemas.microsoft.com/office/drawing/2014/main" id="{49B6B8DC-B71B-1A82-5C16-46A19BE61032}"/>
                  </a:ext>
                </a:extLst>
              </p:cNvPr>
              <p:cNvSpPr/>
              <p:nvPr/>
            </p:nvSpPr>
            <p:spPr>
              <a:xfrm>
                <a:off x="731520" y="4116634"/>
                <a:ext cx="53644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ea typeface="Calibri" pitchFamily="34" charset="-122"/>
                    <a:cs typeface="Calibri" pitchFamily="34" charset="-120"/>
                  </a:rPr>
                  <a:t>Scelta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𝑍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/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𝑋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ea typeface="Calibri" pitchFamily="34" charset="-122"/>
                    <a:cs typeface="Calibri" pitchFamily="34" charset="-120"/>
                  </a:rPr>
                  <a:t>-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𝑏𝑎𝑠𝑖𝑠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ea typeface="Calibri" pitchFamily="34" charset="-122"/>
                    <a:cs typeface="Calibri" pitchFamily="34" charset="-120"/>
                  </a:rPr>
                  <a:t> casuale  —  verifica XOR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𝑏</m:t>
                        </m:r>
                      </m:e>
                      <m:sub>
                        <m:r>
                          <a:rPr lang="it-IT" sz="1400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7" name="Text 14">
                <a:extLst>
                  <a:ext uri="{FF2B5EF4-FFF2-40B4-BE49-F238E27FC236}">
                    <a16:creationId xmlns:a16="http://schemas.microsoft.com/office/drawing/2014/main" id="{49B6B8DC-B71B-1A82-5C16-46A19BE61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4116634"/>
                <a:ext cx="5364480" cy="548640"/>
              </a:xfrm>
              <a:prstGeom prst="rect">
                <a:avLst/>
              </a:prstGeom>
              <a:blipFill>
                <a:blip r:embed="rId5"/>
                <a:stretch>
                  <a:fillRect l="-341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6">
            <a:extLst>
              <a:ext uri="{FF2B5EF4-FFF2-40B4-BE49-F238E27FC236}">
                <a16:creationId xmlns:a16="http://schemas.microsoft.com/office/drawing/2014/main" id="{87890219-9BE6-4F18-B7F9-37AB88BD3210}"/>
              </a:ext>
            </a:extLst>
          </p:cNvPr>
          <p:cNvSpPr/>
          <p:nvPr/>
        </p:nvSpPr>
        <p:spPr>
          <a:xfrm>
            <a:off x="487680" y="4905280"/>
            <a:ext cx="5730240" cy="108000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845E54D-E80E-6B2A-C1D2-C2D277454FD5}"/>
              </a:ext>
            </a:extLst>
          </p:cNvPr>
          <p:cNvSpPr/>
          <p:nvPr/>
        </p:nvSpPr>
        <p:spPr>
          <a:xfrm>
            <a:off x="487680" y="4905280"/>
            <a:ext cx="73152" cy="108000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2A371B4-56BB-05BE-6E06-FB9056DAC74C}"/>
              </a:ext>
            </a:extLst>
          </p:cNvPr>
          <p:cNvSpPr/>
          <p:nvPr/>
        </p:nvSpPr>
        <p:spPr>
          <a:xfrm>
            <a:off x="731520" y="496624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</a:rPr>
              <a:t>run_protocol()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AE306D09-9E34-7AD1-DB86-C39D9DF8C8E3}"/>
                  </a:ext>
                </a:extLst>
              </p:cNvPr>
              <p:cNvSpPr/>
              <p:nvPr/>
            </p:nvSpPr>
            <p:spPr>
              <a:xfrm>
                <a:off x="731520" y="5417344"/>
                <a:ext cx="405003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2000 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𝑟𝑜𝑢𝑛𝑑𝑠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→50%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𝑐h𝑒𝑐𝑘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𝑏𝑖𝑡𝑠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+50%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𝑘𝑒𝑦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𝑏𝑖𝑡𝑠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AE306D09-9E34-7AD1-DB86-C39D9DF8C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417344"/>
                <a:ext cx="4050030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7144856-3BCD-5098-6C85-70A2F30C7A5C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3352799" y="2099024"/>
            <a:ext cx="1" cy="216000"/>
          </a:xfrm>
          <a:prstGeom prst="straightConnector1">
            <a:avLst/>
          </a:prstGeom>
          <a:ln w="25400" cap="flat" cmpd="sng" algn="ctr">
            <a:solidFill>
              <a:srgbClr val="00B4A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A2113E03-2700-39DD-D0CC-2F2C5CB1E06F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3352799" y="3388570"/>
            <a:ext cx="1" cy="216000"/>
          </a:xfrm>
          <a:prstGeom prst="straightConnector1">
            <a:avLst/>
          </a:prstGeom>
          <a:ln w="25400" cap="flat" cmpd="sng" algn="ctr">
            <a:solidFill>
              <a:srgbClr val="00B4A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639C3CD7-F457-97DD-F119-2F9C68E76ECC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3352799" y="4684570"/>
            <a:ext cx="1" cy="216000"/>
          </a:xfrm>
          <a:prstGeom prst="straightConnector1">
            <a:avLst/>
          </a:prstGeom>
          <a:ln w="25400" cap="flat" cmpd="sng" algn="ctr">
            <a:solidFill>
              <a:srgbClr val="00B4A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 20">
            <a:extLst>
              <a:ext uri="{FF2B5EF4-FFF2-40B4-BE49-F238E27FC236}">
                <a16:creationId xmlns:a16="http://schemas.microsoft.com/office/drawing/2014/main" id="{F9269B4C-CA12-0BEA-51E2-C52899C29351}"/>
              </a:ext>
            </a:extLst>
          </p:cNvPr>
          <p:cNvSpPr/>
          <p:nvPr/>
        </p:nvSpPr>
        <p:spPr>
          <a:xfrm>
            <a:off x="6537960" y="1015214"/>
            <a:ext cx="51663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Canali Quantistici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32" name="Shape 21">
            <a:extLst>
              <a:ext uri="{FF2B5EF4-FFF2-40B4-BE49-F238E27FC236}">
                <a16:creationId xmlns:a16="http://schemas.microsoft.com/office/drawing/2014/main" id="{22E82754-CD79-9D35-399D-80BBC780C06B}"/>
              </a:ext>
            </a:extLst>
          </p:cNvPr>
          <p:cNvSpPr/>
          <p:nvPr/>
        </p:nvSpPr>
        <p:spPr>
          <a:xfrm>
            <a:off x="6537960" y="1664668"/>
            <a:ext cx="5166359" cy="1260000"/>
          </a:xfrm>
          <a:prstGeom prst="rect">
            <a:avLst/>
          </a:prstGeom>
          <a:solidFill>
            <a:srgbClr val="1B2838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53E70217-7465-C401-BF42-7F99DD498A43}"/>
              </a:ext>
            </a:extLst>
          </p:cNvPr>
          <p:cNvSpPr/>
          <p:nvPr/>
        </p:nvSpPr>
        <p:spPr>
          <a:xfrm>
            <a:off x="6659880" y="1725628"/>
            <a:ext cx="4877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E63946"/>
                </a:solidFill>
              </a:rPr>
              <a:t>Depolarizing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23">
                <a:extLst>
                  <a:ext uri="{FF2B5EF4-FFF2-40B4-BE49-F238E27FC236}">
                    <a16:creationId xmlns:a16="http://schemas.microsoft.com/office/drawing/2014/main" id="{E3999EAD-907E-6533-4AA7-A341897F931D}"/>
                  </a:ext>
                </a:extLst>
              </p:cNvPr>
              <p:cNvSpPr/>
              <p:nvPr/>
            </p:nvSpPr>
            <p:spPr>
              <a:xfrm>
                <a:off x="6659880" y="2115772"/>
                <a:ext cx="336042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𝑝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→</m:t>
                      </m:r>
                      <m:d>
                        <m:dPr>
                          <m:ctrlPr>
                            <a:rPr lang="en-US" sz="140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n-US" sz="140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1−</m:t>
                          </m:r>
                          <m:r>
                            <a:rPr lang="en-US" sz="140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𝑝</m:t>
                          </m:r>
                        </m:e>
                      </m:d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+</m:t>
                      </m:r>
                      <m:f>
                        <m:fPr>
                          <m:ctrlPr>
                            <a:rPr lang="it-IT" sz="1400" b="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r>
                            <a:rPr lang="en-US" sz="140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𝑝</m:t>
                          </m:r>
                        </m:num>
                        <m:den>
                          <m:r>
                            <a:rPr lang="it-IT" sz="1400" b="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3</m:t>
                          </m:r>
                        </m:den>
                      </m:f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𝑋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𝑋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+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+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𝑍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𝑍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4" name="Text 23">
                <a:extLst>
                  <a:ext uri="{FF2B5EF4-FFF2-40B4-BE49-F238E27FC236}">
                    <a16:creationId xmlns:a16="http://schemas.microsoft.com/office/drawing/2014/main" id="{E3999EAD-907E-6533-4AA7-A341897F9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2115772"/>
                <a:ext cx="3360420" cy="365760"/>
              </a:xfrm>
              <a:prstGeom prst="rect">
                <a:avLst/>
              </a:prstGeom>
              <a:blipFill>
                <a:blip r:embed="rId7"/>
                <a:stretch>
                  <a:fillRect t="-1667" b="-15000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24">
            <a:extLst>
              <a:ext uri="{FF2B5EF4-FFF2-40B4-BE49-F238E27FC236}">
                <a16:creationId xmlns:a16="http://schemas.microsoft.com/office/drawing/2014/main" id="{CBE5C420-39BB-F1EB-8F4B-FF59A1AB9804}"/>
              </a:ext>
            </a:extLst>
          </p:cNvPr>
          <p:cNvSpPr/>
          <p:nvPr/>
        </p:nvSpPr>
        <p:spPr>
          <a:xfrm>
            <a:off x="6659880" y="2481532"/>
            <a:ext cx="4877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generico — modello più realistico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A381B67C-DE91-53C7-6025-BA50D6C34FDD}"/>
              </a:ext>
            </a:extLst>
          </p:cNvPr>
          <p:cNvSpPr/>
          <p:nvPr/>
        </p:nvSpPr>
        <p:spPr>
          <a:xfrm>
            <a:off x="6537960" y="3184444"/>
            <a:ext cx="5166357" cy="1260000"/>
          </a:xfrm>
          <a:prstGeom prst="rect">
            <a:avLst/>
          </a:prstGeom>
          <a:solidFill>
            <a:srgbClr val="1B2838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2100A37A-1C0B-95F3-69C9-0F2AEECB230F}"/>
              </a:ext>
            </a:extLst>
          </p:cNvPr>
          <p:cNvSpPr/>
          <p:nvPr/>
        </p:nvSpPr>
        <p:spPr>
          <a:xfrm>
            <a:off x="6659880" y="3245404"/>
            <a:ext cx="4877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4A261"/>
                </a:solidFill>
                <a:ea typeface="Trebuchet MS" pitchFamily="34" charset="-122"/>
                <a:cs typeface="Trebuchet MS" pitchFamily="34" charset="-120"/>
              </a:rPr>
              <a:t>Dephasing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27">
                <a:extLst>
                  <a:ext uri="{FF2B5EF4-FFF2-40B4-BE49-F238E27FC236}">
                    <a16:creationId xmlns:a16="http://schemas.microsoft.com/office/drawing/2014/main" id="{0DDE9438-0FE8-AB52-5F37-3E40BBC9A230}"/>
                  </a:ext>
                </a:extLst>
              </p:cNvPr>
              <p:cNvSpPr/>
              <p:nvPr/>
            </p:nvSpPr>
            <p:spPr>
              <a:xfrm>
                <a:off x="6659880" y="3635548"/>
                <a:ext cx="202692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→</m:t>
                      </m:r>
                      <m:d>
                        <m:dPr>
                          <m:ctrlPr>
                            <a:rPr lang="en-US" sz="140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dPr>
                        <m:e>
                          <m:r>
                            <a:rPr lang="en-US" sz="140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1−</m:t>
                          </m:r>
                          <m:r>
                            <a:rPr lang="en-US" sz="1400" i="1" dirty="0" smtClean="0">
                              <a:solidFill>
                                <a:srgbClr val="E8EDF2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𝑝</m:t>
                          </m:r>
                        </m:e>
                      </m:d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+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𝑝𝑍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𝜌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𝑍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8" name="Text 27">
                <a:extLst>
                  <a:ext uri="{FF2B5EF4-FFF2-40B4-BE49-F238E27FC236}">
                    <a16:creationId xmlns:a16="http://schemas.microsoft.com/office/drawing/2014/main" id="{0DDE9438-0FE8-AB52-5F37-3E40BBC9A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3635548"/>
                <a:ext cx="202692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28">
            <a:extLst>
              <a:ext uri="{FF2B5EF4-FFF2-40B4-BE49-F238E27FC236}">
                <a16:creationId xmlns:a16="http://schemas.microsoft.com/office/drawing/2014/main" id="{007C4897-4631-2335-F77A-86719A0B3F3E}"/>
              </a:ext>
            </a:extLst>
          </p:cNvPr>
          <p:cNvSpPr/>
          <p:nvPr/>
        </p:nvSpPr>
        <p:spPr>
          <a:xfrm>
            <a:off x="6659880" y="4001308"/>
            <a:ext cx="4877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perdita di coerenza di fase (T₂)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5C363E88-2D6E-1213-7AF3-D343502833CE}"/>
              </a:ext>
            </a:extLst>
          </p:cNvPr>
          <p:cNvSpPr/>
          <p:nvPr/>
        </p:nvSpPr>
        <p:spPr>
          <a:xfrm>
            <a:off x="6537960" y="4703083"/>
            <a:ext cx="5166356" cy="1260000"/>
          </a:xfrm>
          <a:prstGeom prst="rect">
            <a:avLst/>
          </a:prstGeom>
          <a:solidFill>
            <a:srgbClr val="1B2838"/>
          </a:solidFill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C8E200E0-125F-9F30-EF71-E21F5024E99A}"/>
              </a:ext>
            </a:extLst>
          </p:cNvPr>
          <p:cNvSpPr/>
          <p:nvPr/>
        </p:nvSpPr>
        <p:spPr>
          <a:xfrm>
            <a:off x="6659880" y="4764043"/>
            <a:ext cx="4877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31">
                <a:extLst>
                  <a:ext uri="{FF2B5EF4-FFF2-40B4-BE49-F238E27FC236}">
                    <a16:creationId xmlns:a16="http://schemas.microsoft.com/office/drawing/2014/main" id="{C70A2486-C19D-EFEE-06CD-18870CFE0B7B}"/>
                  </a:ext>
                </a:extLst>
              </p:cNvPr>
              <p:cNvSpPr/>
              <p:nvPr/>
            </p:nvSpPr>
            <p:spPr>
              <a:xfrm>
                <a:off x="6659880" y="5154187"/>
                <a:ext cx="262128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𝑝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=0→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𝑛𝑒𝑠𝑠𝑢𝑛𝑎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</m:t>
                      </m:r>
                      <m:r>
                        <a:rPr lang="en-US" sz="1400" i="1" dirty="0" smtClean="0">
                          <a:solidFill>
                            <a:srgbClr val="E8EDF2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𝑜𝑝𝑒𝑟𝑎𝑧𝑖𝑜𝑛𝑒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2" name="Text 31">
                <a:extLst>
                  <a:ext uri="{FF2B5EF4-FFF2-40B4-BE49-F238E27FC236}">
                    <a16:creationId xmlns:a16="http://schemas.microsoft.com/office/drawing/2014/main" id="{C70A2486-C19D-EFEE-06CD-18870CFE0B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880" y="5154187"/>
                <a:ext cx="2621280" cy="3657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 32">
            <a:extLst>
              <a:ext uri="{FF2B5EF4-FFF2-40B4-BE49-F238E27FC236}">
                <a16:creationId xmlns:a16="http://schemas.microsoft.com/office/drawing/2014/main" id="{AD7BAE47-B159-7D76-7033-A744656F0A17}"/>
              </a:ext>
            </a:extLst>
          </p:cNvPr>
          <p:cNvSpPr/>
          <p:nvPr/>
        </p:nvSpPr>
        <p:spPr>
          <a:xfrm>
            <a:off x="6659880" y="5519947"/>
            <a:ext cx="4877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 perfetto — benchmark correttezza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8C323A59-0167-755D-09D1-D6DBBCBE949F}"/>
              </a:ext>
            </a:extLst>
          </p:cNvPr>
          <p:cNvSpPr/>
          <p:nvPr/>
        </p:nvSpPr>
        <p:spPr>
          <a:xfrm>
            <a:off x="487680" y="6150864"/>
            <a:ext cx="11216636" cy="4632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34">
                <a:extLst>
                  <a:ext uri="{FF2B5EF4-FFF2-40B4-BE49-F238E27FC236}">
                    <a16:creationId xmlns:a16="http://schemas.microsoft.com/office/drawing/2014/main" id="{DFF6EA17-6A32-E382-4A1C-699B65044F47}"/>
                  </a:ext>
                </a:extLst>
              </p:cNvPr>
              <p:cNvSpPr/>
              <p:nvPr/>
            </p:nvSpPr>
            <p:spPr>
              <a:xfrm>
                <a:off x="487680" y="6150864"/>
                <a:ext cx="11216636" cy="46329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 defTabSz="1219170"/>
                <a:r>
                  <a:rPr lang="en-US" sz="1400" b="1" dirty="0">
                    <a:solidFill>
                      <a:srgbClr val="1B283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NetSquid  —  Density Matrix formalism  —  scala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B2838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𝑶</m:t>
                    </m:r>
                    <m:d>
                      <m:dPr>
                        <m:ctrlPr>
                          <a:rPr lang="en-US" sz="1400" b="1" i="1" dirty="0" smtClean="0">
                            <a:solidFill>
                              <a:srgbClr val="1B283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1" i="1" dirty="0" smtClean="0">
                                <a:solidFill>
                                  <a:srgbClr val="1B283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pPr>
                          <m:e>
                            <m:r>
                              <a:rPr lang="en-US" sz="1400" b="1" i="1" dirty="0" smtClean="0">
                                <a:solidFill>
                                  <a:srgbClr val="1B283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1400" b="1" i="1" dirty="0" smtClean="0">
                                <a:solidFill>
                                  <a:srgbClr val="1B283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2</m:t>
                            </m:r>
                          </m:sup>
                        </m:sSup>
                        <m:r>
                          <a:rPr lang="en-US" sz="1400" b="1" i="1" dirty="0" smtClean="0">
                            <a:solidFill>
                              <a:srgbClr val="1B283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ⁿ</m:t>
                        </m:r>
                      </m:e>
                    </m:d>
                  </m:oMath>
                </a14:m>
                <a:r>
                  <a:rPr lang="en-US" sz="1400" b="1" dirty="0">
                    <a:solidFill>
                      <a:srgbClr val="1B283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—  N+M ≤ 10 qubit  —  results.json salva tutti i dati per --plot istantaneo</a:t>
                </a:r>
                <a:endParaRPr lang="en-US" sz="1400" dirty="0">
                  <a:solidFill>
                    <a:srgbClr val="1B2838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7" name="Text 34">
                <a:extLst>
                  <a:ext uri="{FF2B5EF4-FFF2-40B4-BE49-F238E27FC236}">
                    <a16:creationId xmlns:a16="http://schemas.microsoft.com/office/drawing/2014/main" id="{DFF6EA17-6A32-E382-4A1C-699B65044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6150864"/>
                <a:ext cx="11216636" cy="4632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87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2ACCF-5FD8-0092-CB0F-E3DEA12E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E56102-5FE4-5461-0836-B6E6F22D2B42}"/>
              </a:ext>
            </a:extLst>
          </p:cNvPr>
          <p:cNvSpPr/>
          <p:nvPr/>
        </p:nvSpPr>
        <p:spPr>
          <a:xfrm>
            <a:off x="487680" y="243840"/>
            <a:ext cx="11414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Risultati — Correttezza e Sicurezza del Protocollo</a:t>
            </a:r>
            <a:endParaRPr lang="en-US" sz="3200" dirty="0">
              <a:solidFill>
                <a:prstClr val="black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F953EE0-F3B8-B2E5-68DD-B66218412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9" r="51428"/>
          <a:stretch>
            <a:fillRect/>
          </a:stretch>
        </p:blipFill>
        <p:spPr>
          <a:xfrm>
            <a:off x="487678" y="1036021"/>
            <a:ext cx="4888994" cy="3020729"/>
          </a:xfrm>
          <a:prstGeom prst="rect">
            <a:avLst/>
          </a:prstGeom>
        </p:spPr>
      </p:pic>
      <p:sp>
        <p:nvSpPr>
          <p:cNvPr id="103" name="Shape 2">
            <a:extLst>
              <a:ext uri="{FF2B5EF4-FFF2-40B4-BE49-F238E27FC236}">
                <a16:creationId xmlns:a16="http://schemas.microsoft.com/office/drawing/2014/main" id="{AFF9647D-01DD-8067-103A-6AF91E34AF8B}"/>
              </a:ext>
            </a:extLst>
          </p:cNvPr>
          <p:cNvSpPr/>
          <p:nvPr/>
        </p:nvSpPr>
        <p:spPr>
          <a:xfrm>
            <a:off x="487680" y="4242669"/>
            <a:ext cx="426720" cy="4267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4" name="Text 3">
            <a:extLst>
              <a:ext uri="{FF2B5EF4-FFF2-40B4-BE49-F238E27FC236}">
                <a16:creationId xmlns:a16="http://schemas.microsoft.com/office/drawing/2014/main" id="{84B0ED8C-964C-249D-6B8E-B89862A27FD6}"/>
              </a:ext>
            </a:extLst>
          </p:cNvPr>
          <p:cNvSpPr/>
          <p:nvPr/>
        </p:nvSpPr>
        <p:spPr>
          <a:xfrm>
            <a:off x="487680" y="4242669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5" name="Text 4">
            <a:extLst>
              <a:ext uri="{FF2B5EF4-FFF2-40B4-BE49-F238E27FC236}">
                <a16:creationId xmlns:a16="http://schemas.microsoft.com/office/drawing/2014/main" id="{A587EDE0-7738-7864-4FB6-EE711CBDCC8C}"/>
              </a:ext>
            </a:extLst>
          </p:cNvPr>
          <p:cNvSpPr/>
          <p:nvPr/>
        </p:nvSpPr>
        <p:spPr>
          <a:xfrm>
            <a:off x="975359" y="4242669"/>
            <a:ext cx="4401315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Recupero perfetto al 100%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6" name="Text 5">
            <a:extLst>
              <a:ext uri="{FF2B5EF4-FFF2-40B4-BE49-F238E27FC236}">
                <a16:creationId xmlns:a16="http://schemas.microsoft.com/office/drawing/2014/main" id="{49381357-555C-AE4A-7FB2-5D660D15CB9D}"/>
              </a:ext>
            </a:extLst>
          </p:cNvPr>
          <p:cNvSpPr/>
          <p:nvPr/>
        </p:nvSpPr>
        <p:spPr>
          <a:xfrm>
            <a:off x="975360" y="4669389"/>
            <a:ext cx="4401314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canale ideale: 0 errori su 16 bit per ogni configurazione N×M testata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Shape 2">
            <a:extLst>
              <a:ext uri="{FF2B5EF4-FFF2-40B4-BE49-F238E27FC236}">
                <a16:creationId xmlns:a16="http://schemas.microsoft.com/office/drawing/2014/main" id="{02C8FCFC-CBFE-EFCD-3B1C-8B3CB3483353}"/>
              </a:ext>
            </a:extLst>
          </p:cNvPr>
          <p:cNvSpPr/>
          <p:nvPr/>
        </p:nvSpPr>
        <p:spPr>
          <a:xfrm>
            <a:off x="487680" y="5575099"/>
            <a:ext cx="426720" cy="4267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9" name="Text 3">
            <a:extLst>
              <a:ext uri="{FF2B5EF4-FFF2-40B4-BE49-F238E27FC236}">
                <a16:creationId xmlns:a16="http://schemas.microsoft.com/office/drawing/2014/main" id="{C5DC3CA3-26AE-8D43-D67C-AA2343E0CC0C}"/>
              </a:ext>
            </a:extLst>
          </p:cNvPr>
          <p:cNvSpPr/>
          <p:nvPr/>
        </p:nvSpPr>
        <p:spPr>
          <a:xfrm>
            <a:off x="487680" y="5575099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0" name="Text 4">
            <a:extLst>
              <a:ext uri="{FF2B5EF4-FFF2-40B4-BE49-F238E27FC236}">
                <a16:creationId xmlns:a16="http://schemas.microsoft.com/office/drawing/2014/main" id="{7F835DED-0D06-2F36-FA9B-D8732C366C4C}"/>
              </a:ext>
            </a:extLst>
          </p:cNvPr>
          <p:cNvSpPr/>
          <p:nvPr/>
        </p:nvSpPr>
        <p:spPr>
          <a:xfrm>
            <a:off x="975359" y="5575099"/>
            <a:ext cx="440131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Error rate = 0.000 con p=0</a:t>
            </a:r>
          </a:p>
        </p:txBody>
      </p:sp>
      <p:sp>
        <p:nvSpPr>
          <p:cNvPr id="111" name="Text 5">
            <a:extLst>
              <a:ext uri="{FF2B5EF4-FFF2-40B4-BE49-F238E27FC236}">
                <a16:creationId xmlns:a16="http://schemas.microsoft.com/office/drawing/2014/main" id="{90B17E9C-F3AA-FB35-D60C-0C80C3E26FE1}"/>
              </a:ext>
            </a:extLst>
          </p:cNvPr>
          <p:cNvSpPr/>
          <p:nvPr/>
        </p:nvSpPr>
        <p:spPr>
          <a:xfrm>
            <a:off x="975359" y="6001819"/>
            <a:ext cx="4401313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la correttezza matematica del protocollo e dell'implementazione NetSquid</a:t>
            </a:r>
          </a:p>
        </p:txBody>
      </p:sp>
      <p:sp>
        <p:nvSpPr>
          <p:cNvPr id="115" name="Text 4">
            <a:extLst>
              <a:ext uri="{FF2B5EF4-FFF2-40B4-BE49-F238E27FC236}">
                <a16:creationId xmlns:a16="http://schemas.microsoft.com/office/drawing/2014/main" id="{A88967FF-BE58-7707-D88F-E3B885BB3CA3}"/>
              </a:ext>
            </a:extLst>
          </p:cNvPr>
          <p:cNvSpPr/>
          <p:nvPr/>
        </p:nvSpPr>
        <p:spPr>
          <a:xfrm>
            <a:off x="6978121" y="4242669"/>
            <a:ext cx="4726199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Depolar p=0.05: rate ~9.8%</a:t>
            </a: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3F64B6C0-1B4F-45E3-E98D-ACE7F46D16C3}"/>
              </a:ext>
            </a:extLst>
          </p:cNvPr>
          <p:cNvSpPr/>
          <p:nvPr/>
        </p:nvSpPr>
        <p:spPr>
          <a:xfrm>
            <a:off x="6978122" y="4669389"/>
            <a:ext cx="4726198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 sotto la soglia dell'11% → sessione sicura con rumore moderato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117" name="Text 3">
            <a:extLst>
              <a:ext uri="{FF2B5EF4-FFF2-40B4-BE49-F238E27FC236}">
                <a16:creationId xmlns:a16="http://schemas.microsoft.com/office/drawing/2014/main" id="{528144A9-CB32-4112-3318-3630CCCB0B68}"/>
              </a:ext>
            </a:extLst>
          </p:cNvPr>
          <p:cNvSpPr/>
          <p:nvPr/>
        </p:nvSpPr>
        <p:spPr>
          <a:xfrm>
            <a:off x="6490442" y="4251387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8" name="Shape 12">
            <a:extLst>
              <a:ext uri="{FF2B5EF4-FFF2-40B4-BE49-F238E27FC236}">
                <a16:creationId xmlns:a16="http://schemas.microsoft.com/office/drawing/2014/main" id="{36320A07-D86B-CDCC-E34E-40612DBDBC9F}"/>
              </a:ext>
            </a:extLst>
          </p:cNvPr>
          <p:cNvSpPr/>
          <p:nvPr/>
        </p:nvSpPr>
        <p:spPr>
          <a:xfrm>
            <a:off x="6490442" y="4246008"/>
            <a:ext cx="426720" cy="4267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FC141149-1DAD-228C-B6EE-C4DBE5256840}"/>
              </a:ext>
            </a:extLst>
          </p:cNvPr>
          <p:cNvSpPr/>
          <p:nvPr/>
        </p:nvSpPr>
        <p:spPr>
          <a:xfrm>
            <a:off x="6490442" y="4246008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1" name="Text 4">
            <a:extLst>
              <a:ext uri="{FF2B5EF4-FFF2-40B4-BE49-F238E27FC236}">
                <a16:creationId xmlns:a16="http://schemas.microsoft.com/office/drawing/2014/main" id="{62A5D22D-801F-A510-1159-43C4AE40DFD6}"/>
              </a:ext>
            </a:extLst>
          </p:cNvPr>
          <p:cNvSpPr/>
          <p:nvPr/>
        </p:nvSpPr>
        <p:spPr>
          <a:xfrm>
            <a:off x="6978121" y="5577840"/>
            <a:ext cx="472619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</a:rPr>
              <a:t>Dephase p=0.05: rate ~9.2%</a:t>
            </a:r>
          </a:p>
        </p:txBody>
      </p:sp>
      <p:sp>
        <p:nvSpPr>
          <p:cNvPr id="122" name="Text 5">
            <a:extLst>
              <a:ext uri="{FF2B5EF4-FFF2-40B4-BE49-F238E27FC236}">
                <a16:creationId xmlns:a16="http://schemas.microsoft.com/office/drawing/2014/main" id="{BD97F04A-A49C-9F5B-8777-EF6982C78910}"/>
              </a:ext>
            </a:extLst>
          </p:cNvPr>
          <p:cNvSpPr/>
          <p:nvPr/>
        </p:nvSpPr>
        <p:spPr>
          <a:xfrm>
            <a:off x="6978121" y="6004560"/>
            <a:ext cx="4726197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Dephasing meno aggressivo: solo errori di fase, nessun bit flip</a:t>
            </a:r>
          </a:p>
        </p:txBody>
      </p:sp>
      <p:sp>
        <p:nvSpPr>
          <p:cNvPr id="123" name="Text 3">
            <a:extLst>
              <a:ext uri="{FF2B5EF4-FFF2-40B4-BE49-F238E27FC236}">
                <a16:creationId xmlns:a16="http://schemas.microsoft.com/office/drawing/2014/main" id="{025FEB4E-4DEA-1163-62E9-DD0DA522DB32}"/>
              </a:ext>
            </a:extLst>
          </p:cNvPr>
          <p:cNvSpPr/>
          <p:nvPr/>
        </p:nvSpPr>
        <p:spPr>
          <a:xfrm>
            <a:off x="6490442" y="5586558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4" name="Shape 12">
            <a:extLst>
              <a:ext uri="{FF2B5EF4-FFF2-40B4-BE49-F238E27FC236}">
                <a16:creationId xmlns:a16="http://schemas.microsoft.com/office/drawing/2014/main" id="{A2A0982B-37F6-963C-3587-0F9C34D4C45B}"/>
              </a:ext>
            </a:extLst>
          </p:cNvPr>
          <p:cNvSpPr/>
          <p:nvPr/>
        </p:nvSpPr>
        <p:spPr>
          <a:xfrm>
            <a:off x="6490442" y="5581179"/>
            <a:ext cx="426720" cy="4267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5" name="Text 13">
            <a:extLst>
              <a:ext uri="{FF2B5EF4-FFF2-40B4-BE49-F238E27FC236}">
                <a16:creationId xmlns:a16="http://schemas.microsoft.com/office/drawing/2014/main" id="{741062C1-F215-36BF-E2B4-D9EEEEC39614}"/>
              </a:ext>
            </a:extLst>
          </p:cNvPr>
          <p:cNvSpPr/>
          <p:nvPr/>
        </p:nvSpPr>
        <p:spPr>
          <a:xfrm>
            <a:off x="6490442" y="5581179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6" name="Immagine 125">
            <a:extLst>
              <a:ext uri="{FF2B5EF4-FFF2-40B4-BE49-F238E27FC236}">
                <a16:creationId xmlns:a16="http://schemas.microsoft.com/office/drawing/2014/main" id="{A2D480E4-D9D8-C57F-1433-491C836B4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01" t="10019"/>
          <a:stretch>
            <a:fillRect/>
          </a:stretch>
        </p:blipFill>
        <p:spPr>
          <a:xfrm>
            <a:off x="6490440" y="1036021"/>
            <a:ext cx="5213878" cy="302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66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63C4A-5807-0C9F-03EE-4AC92BBB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A39496-ADE6-1414-9FF8-1183774A8178}"/>
              </a:ext>
            </a:extLst>
          </p:cNvPr>
          <p:cNvSpPr/>
          <p:nvPr/>
        </p:nvSpPr>
        <p:spPr>
          <a:xfrm>
            <a:off x="487680" y="243840"/>
            <a:ext cx="11414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Risultati — Error Rate vs Noise Rate (N=2, M=2, 2000 rounds)</a:t>
            </a:r>
            <a:endParaRPr lang="en-US" sz="3200" dirty="0">
              <a:solidFill>
                <a:prstClr val="black"/>
              </a:solidFill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D8F0DA98-FB0B-7306-FDF5-9B33F1F55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" r="33"/>
          <a:stretch/>
        </p:blipFill>
        <p:spPr>
          <a:xfrm>
            <a:off x="487680" y="1047816"/>
            <a:ext cx="7589520" cy="509808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DBE85F1-9896-BE51-11F3-D30F074CDBEB}"/>
              </a:ext>
            </a:extLst>
          </p:cNvPr>
          <p:cNvSpPr/>
          <p:nvPr/>
        </p:nvSpPr>
        <p:spPr>
          <a:xfrm>
            <a:off x="8474895" y="1046761"/>
            <a:ext cx="1242710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600" b="1" dirty="0">
                <a:solidFill>
                  <a:srgbClr val="2D6A4F"/>
                </a:solidFill>
                <a:ea typeface="Trebuchet MS" pitchFamily="34" charset="-122"/>
                <a:cs typeface="Trebuchet MS" pitchFamily="34" charset="-120"/>
              </a:rPr>
              <a:t>≤1%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E4BA4C-BD25-BCFA-6BAA-15C309433734}"/>
              </a:ext>
            </a:extLst>
          </p:cNvPr>
          <p:cNvSpPr/>
          <p:nvPr/>
        </p:nvSpPr>
        <p:spPr>
          <a:xfrm>
            <a:off x="9633134" y="1051727"/>
            <a:ext cx="2071186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noise=0.01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 sicuro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DF5C751-4369-4623-8327-B6A78D98D7F6}"/>
              </a:ext>
            </a:extLst>
          </p:cNvPr>
          <p:cNvSpPr/>
          <p:nvPr/>
        </p:nvSpPr>
        <p:spPr>
          <a:xfrm>
            <a:off x="8474895" y="2433399"/>
            <a:ext cx="1242710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600" b="1" dirty="0">
                <a:solidFill>
                  <a:srgbClr val="00B4A6"/>
                </a:solidFill>
                <a:ea typeface="Trebuchet MS" pitchFamily="34" charset="-122"/>
                <a:cs typeface="Trebuchet MS" pitchFamily="34" charset="-120"/>
              </a:rPr>
              <a:t>~3%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E772AA6-43B4-56CB-8F06-D05673B89D66}"/>
              </a:ext>
            </a:extLst>
          </p:cNvPr>
          <p:cNvSpPr/>
          <p:nvPr/>
        </p:nvSpPr>
        <p:spPr>
          <a:xfrm>
            <a:off x="9633134" y="2433399"/>
            <a:ext cx="2071186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noise=0.02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ampiamente sicuro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14DE9A9-5D83-6418-3E18-B727F64BEFD2}"/>
              </a:ext>
            </a:extLst>
          </p:cNvPr>
          <p:cNvSpPr/>
          <p:nvPr/>
        </p:nvSpPr>
        <p:spPr>
          <a:xfrm>
            <a:off x="8474895" y="3816644"/>
            <a:ext cx="1242710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600" b="1" dirty="0">
                <a:solidFill>
                  <a:srgbClr val="F4A261"/>
                </a:solidFill>
                <a:ea typeface="Trebuchet MS" pitchFamily="34" charset="-122"/>
                <a:cs typeface="Trebuchet MS" pitchFamily="34" charset="-120"/>
              </a:rPr>
              <a:t>11%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8735C60-D78A-9A35-1EF8-4F7D0706F1A7}"/>
              </a:ext>
            </a:extLst>
          </p:cNvPr>
          <p:cNvSpPr/>
          <p:nvPr/>
        </p:nvSpPr>
        <p:spPr>
          <a:xfrm>
            <a:off x="9633134" y="3816644"/>
            <a:ext cx="2071186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sicurezza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(QKD standard)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E40B93C-20FE-92EC-70D9-497A6352D4F1}"/>
              </a:ext>
            </a:extLst>
          </p:cNvPr>
          <p:cNvSpPr/>
          <p:nvPr/>
        </p:nvSpPr>
        <p:spPr>
          <a:xfrm>
            <a:off x="8474895" y="5201901"/>
            <a:ext cx="1242710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600" b="1" dirty="0">
                <a:solidFill>
                  <a:srgbClr val="E63946"/>
                </a:solidFill>
                <a:ea typeface="Trebuchet MS" pitchFamily="34" charset="-122"/>
                <a:cs typeface="Trebuchet MS" pitchFamily="34" charset="-120"/>
              </a:rPr>
              <a:t>44%</a:t>
            </a:r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17E5D37-E2BD-C96A-B131-966AFD893E23}"/>
              </a:ext>
            </a:extLst>
          </p:cNvPr>
          <p:cNvSpPr/>
          <p:nvPr/>
        </p:nvSpPr>
        <p:spPr>
          <a:xfrm>
            <a:off x="9633134" y="5201901"/>
            <a:ext cx="2071186" cy="947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noise=0.30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abort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34">
            <a:extLst>
              <a:ext uri="{FF2B5EF4-FFF2-40B4-BE49-F238E27FC236}">
                <a16:creationId xmlns:a16="http://schemas.microsoft.com/office/drawing/2014/main" id="{E58621CD-4AA5-FC13-2D2A-24F0122A6219}"/>
              </a:ext>
            </a:extLst>
          </p:cNvPr>
          <p:cNvSpPr/>
          <p:nvPr/>
        </p:nvSpPr>
        <p:spPr>
          <a:xfrm>
            <a:off x="487680" y="6150864"/>
            <a:ext cx="7589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it-IT" sz="1200" i="1" dirty="0">
                <a:solidFill>
                  <a:srgbClr val="E8EDF2"/>
                </a:solidFill>
              </a:rPr>
              <a:t>Il rumore Depolarizing ha un impatto maggiore perché introduce sia Bit Flip che Phase Flip</a:t>
            </a:r>
            <a:endParaRPr lang="en-US" sz="1200" i="1" dirty="0">
              <a:solidFill>
                <a:srgbClr val="E8ED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61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5B3BF-1679-4608-D9BE-0FBFB1DE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4D2D7E-7D6F-F9A7-9962-EA5CAD76D343}"/>
              </a:ext>
            </a:extLst>
          </p:cNvPr>
          <p:cNvSpPr/>
          <p:nvPr/>
        </p:nvSpPr>
        <p:spPr>
          <a:xfrm>
            <a:off x="487680" y="243840"/>
            <a:ext cx="11414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Risultati — Scalabilità al variare dei Partecipanti (noise = 0.05)</a:t>
            </a:r>
            <a:endParaRPr lang="en-US" sz="3200" dirty="0">
              <a:solidFill>
                <a:prstClr val="black"/>
              </a:solidFill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0B4AF1A1-CD2D-0E2C-5B6A-A3BF0C964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" r="27"/>
          <a:stretch/>
        </p:blipFill>
        <p:spPr>
          <a:xfrm>
            <a:off x="487680" y="1046761"/>
            <a:ext cx="7700256" cy="51816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51223890-BD82-69B3-AC59-2808A48B455D}"/>
              </a:ext>
            </a:extLst>
          </p:cNvPr>
          <p:cNvSpPr/>
          <p:nvPr/>
        </p:nvSpPr>
        <p:spPr>
          <a:xfrm>
            <a:off x="8453714" y="1334046"/>
            <a:ext cx="3202193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2D6A4F"/>
                </a:solidFill>
                <a:ea typeface="Trebuchet MS" pitchFamily="34" charset="-122"/>
                <a:cs typeface="Trebuchet MS" pitchFamily="34" charset="-120"/>
              </a:rPr>
              <a:t>Canale ideale: 0% sempre</a:t>
            </a:r>
            <a:endParaRPr lang="en-US" dirty="0">
              <a:solidFill>
                <a:srgbClr val="2D6A4F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11B595E-8597-C5A8-B651-B9A92ECEF09C}"/>
              </a:ext>
            </a:extLst>
          </p:cNvPr>
          <p:cNvSpPr/>
          <p:nvPr/>
        </p:nvSpPr>
        <p:spPr>
          <a:xfrm>
            <a:off x="8453714" y="1797340"/>
            <a:ext cx="3202193" cy="82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L'error rate rimane 0 per ogni N+M  —  correttezza formale garantita dalla struttura del graph state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F067AAE-B606-88D9-C847-E70BECF9C98A}"/>
              </a:ext>
            </a:extLst>
          </p:cNvPr>
          <p:cNvSpPr/>
          <p:nvPr/>
        </p:nvSpPr>
        <p:spPr>
          <a:xfrm>
            <a:off x="8453716" y="3024038"/>
            <a:ext cx="3202193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4A261"/>
                </a:solidFill>
                <a:ea typeface="Trebuchet MS" pitchFamily="34" charset="-122"/>
                <a:cs typeface="Trebuchet MS" pitchFamily="34" charset="-120"/>
              </a:rPr>
              <a:t>Error rate cresce con N+M</a:t>
            </a:r>
            <a:endParaRPr lang="en-US" dirty="0">
              <a:solidFill>
                <a:srgbClr val="F4A261"/>
              </a:solidFill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26A1440-7664-6C76-3739-6B44584F500D}"/>
              </a:ext>
            </a:extLst>
          </p:cNvPr>
          <p:cNvSpPr/>
          <p:nvPr/>
        </p:nvSpPr>
        <p:spPr>
          <a:xfrm>
            <a:off x="8453716" y="3422387"/>
            <a:ext cx="3202192" cy="828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~8% (N=1,M=1) a ~24% (N=5,M=5) con depolarizing: ogni qubit aggiuntivo accumula rumore di canale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325A5F7-D625-F1B0-C88B-B8A4EC912641}"/>
              </a:ext>
            </a:extLst>
          </p:cNvPr>
          <p:cNvSpPr/>
          <p:nvPr/>
        </p:nvSpPr>
        <p:spPr>
          <a:xfrm>
            <a:off x="8453715" y="4649433"/>
            <a:ext cx="3202193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  <a:ea typeface="Trebuchet MS" pitchFamily="34" charset="-122"/>
                <a:cs typeface="Trebuchet MS" pitchFamily="34" charset="-120"/>
              </a:rPr>
              <a:t>Key bits stabili (~500/2000)</a:t>
            </a:r>
            <a:endParaRPr lang="en-US" dirty="0">
              <a:solidFill>
                <a:srgbClr val="00B4A6"/>
              </a:solidFill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890BD1A-6AB5-61C8-B763-96E3D8646B33}"/>
              </a:ext>
            </a:extLst>
          </p:cNvPr>
          <p:cNvSpPr/>
          <p:nvPr/>
        </p:nvSpPr>
        <p:spPr>
          <a:xfrm>
            <a:off x="8453716" y="5112727"/>
            <a:ext cx="3202191" cy="82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Indipendente dalla scala: ~25% dei round totali produce key bits (selezione x_count dispari, check ratio 50%)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9050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1F70B-EC91-661A-EEC1-3D714DACF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A68DF0-365E-2078-07F0-00453B8341CA}"/>
              </a:ext>
            </a:extLst>
          </p:cNvPr>
          <p:cNvSpPr/>
          <p:nvPr/>
        </p:nvSpPr>
        <p:spPr>
          <a:xfrm>
            <a:off x="487680" y="243840"/>
            <a:ext cx="11414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Risultati — Impatto del Rumore sul Recupero della Master Key</a:t>
            </a:r>
            <a:endParaRPr lang="en-US" sz="3200" dirty="0">
              <a:solidFill>
                <a:prstClr val="black"/>
              </a:solidFill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C956AD8-C827-202C-ED4C-9183304015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4"/>
          <a:stretch>
            <a:fillRect/>
          </a:stretch>
        </p:blipFill>
        <p:spPr>
          <a:xfrm>
            <a:off x="489600" y="1047600"/>
            <a:ext cx="7823295" cy="5102481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91F9105D-373D-BD7E-DEC8-470EBA4A3807}"/>
              </a:ext>
            </a:extLst>
          </p:cNvPr>
          <p:cNvSpPr/>
          <p:nvPr/>
        </p:nvSpPr>
        <p:spPr>
          <a:xfrm>
            <a:off x="8837280" y="1272239"/>
            <a:ext cx="28651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2D6A4F"/>
                </a:solidFill>
                <a:ea typeface="Trebuchet MS" pitchFamily="34" charset="-122"/>
                <a:cs typeface="Trebuchet MS" pitchFamily="34" charset="-120"/>
              </a:rPr>
              <a:t>noise = 0.00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C33F7B9-76CA-7A4D-20CC-AA44582CA898}"/>
              </a:ext>
            </a:extLst>
          </p:cNvPr>
          <p:cNvSpPr/>
          <p:nvPr/>
        </p:nvSpPr>
        <p:spPr>
          <a:xfrm>
            <a:off x="8837280" y="1686767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0 errori su 16 bit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4B191F7-9F57-86D2-DAD6-8ADD81655C1E}"/>
              </a:ext>
            </a:extLst>
          </p:cNvPr>
          <p:cNvSpPr/>
          <p:nvPr/>
        </p:nvSpPr>
        <p:spPr>
          <a:xfrm>
            <a:off x="8837280" y="2048256"/>
            <a:ext cx="2865120" cy="496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perfetto  —  curva recovered sovrapposta a master key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AD0D42A-FE2C-79DB-937E-54319FF860BF}"/>
              </a:ext>
            </a:extLst>
          </p:cNvPr>
          <p:cNvSpPr/>
          <p:nvPr/>
        </p:nvSpPr>
        <p:spPr>
          <a:xfrm>
            <a:off x="8837280" y="2905917"/>
            <a:ext cx="28651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F4A261"/>
                </a:solidFill>
                <a:ea typeface="Trebuchet MS" pitchFamily="34" charset="-122"/>
                <a:cs typeface="Trebuchet MS" pitchFamily="34" charset="-120"/>
              </a:rPr>
              <a:t>noise = 0.05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020C9E8-D2A7-F48C-D26A-198B1D04F438}"/>
              </a:ext>
            </a:extLst>
          </p:cNvPr>
          <p:cNvSpPr/>
          <p:nvPr/>
        </p:nvSpPr>
        <p:spPr>
          <a:xfrm>
            <a:off x="8837280" y="3320445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2 errori (12.5%)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AA7E81E-D2B9-2CCA-0D2A-CCE932281637}"/>
              </a:ext>
            </a:extLst>
          </p:cNvPr>
          <p:cNvSpPr/>
          <p:nvPr/>
        </p:nvSpPr>
        <p:spPr>
          <a:xfrm>
            <a:off x="8837280" y="3686205"/>
            <a:ext cx="2865120" cy="45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limite della soglia  —  sessione ancora gestibile ma al bordo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6D8D513-2048-B627-950F-34ED13CD70A2}"/>
              </a:ext>
            </a:extLst>
          </p:cNvPr>
          <p:cNvSpPr/>
          <p:nvPr/>
        </p:nvSpPr>
        <p:spPr>
          <a:xfrm>
            <a:off x="8837280" y="4512082"/>
            <a:ext cx="28651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E63946"/>
                </a:solidFill>
                <a:ea typeface="Trebuchet MS" pitchFamily="34" charset="-122"/>
                <a:cs typeface="Trebuchet MS" pitchFamily="34" charset="-120"/>
              </a:rPr>
              <a:t>noise = 0.15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7907F74D-7FDD-40D5-96AC-36A937095044}"/>
              </a:ext>
            </a:extLst>
          </p:cNvPr>
          <p:cNvSpPr/>
          <p:nvPr/>
        </p:nvSpPr>
        <p:spPr>
          <a:xfrm>
            <a:off x="8837280" y="4926610"/>
            <a:ext cx="286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5 errori (31%)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23E36DD-E099-2BFF-2B02-1D1E9988B6EC}"/>
              </a:ext>
            </a:extLst>
          </p:cNvPr>
          <p:cNvSpPr/>
          <p:nvPr/>
        </p:nvSpPr>
        <p:spPr>
          <a:xfrm>
            <a:off x="8837280" y="5292370"/>
            <a:ext cx="2865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 compromessa  —  QBER alto, la sessione va abortita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34">
            <a:extLst>
              <a:ext uri="{FF2B5EF4-FFF2-40B4-BE49-F238E27FC236}">
                <a16:creationId xmlns:a16="http://schemas.microsoft.com/office/drawing/2014/main" id="{C36767EA-1D25-4A96-CD08-CDBA67278E1D}"/>
              </a:ext>
            </a:extLst>
          </p:cNvPr>
          <p:cNvSpPr/>
          <p:nvPr/>
        </p:nvSpPr>
        <p:spPr>
          <a:xfrm>
            <a:off x="487680" y="6150081"/>
            <a:ext cx="7823295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it-IT" sz="1200" i="1" dirty="0">
                <a:solidFill>
                  <a:srgbClr val="E8EDF2"/>
                </a:solidFill>
              </a:rPr>
              <a:t>Le bande arancioni evidenziano i singoli bit corrotti a causa dell'incremento del rumore quantistico</a:t>
            </a:r>
            <a:endParaRPr lang="en-US" sz="1200" i="1" dirty="0">
              <a:solidFill>
                <a:srgbClr val="E8ED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30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2BB3F1-C473-A450-5A61-304BD91C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10C958-A8FC-28A7-C107-6979D027429A}"/>
              </a:ext>
            </a:extLst>
          </p:cNvPr>
          <p:cNvSpPr/>
          <p:nvPr/>
        </p:nvSpPr>
        <p:spPr>
          <a:xfrm>
            <a:off x="487680" y="243840"/>
            <a:ext cx="11414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Analisi della Sicurezza: Attacchi e Contromisure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21" name="Text 34">
            <a:extLst>
              <a:ext uri="{FF2B5EF4-FFF2-40B4-BE49-F238E27FC236}">
                <a16:creationId xmlns:a16="http://schemas.microsoft.com/office/drawing/2014/main" id="{842FF784-F1D7-39AD-604E-F8BFB29A7773}"/>
              </a:ext>
            </a:extLst>
          </p:cNvPr>
          <p:cNvSpPr/>
          <p:nvPr/>
        </p:nvSpPr>
        <p:spPr>
          <a:xfrm>
            <a:off x="487680" y="6150081"/>
            <a:ext cx="11216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semi-quantistico: capacità minima richiesta → solo Z-basis + Hadamard → implementazione realistica</a:t>
            </a:r>
            <a:endParaRPr lang="en-US" sz="1200" dirty="0">
              <a:solidFill>
                <a:srgbClr val="E8EDF2"/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576E85C-7D53-C22E-788C-9CFE4C1E04E3}"/>
              </a:ext>
            </a:extLst>
          </p:cNvPr>
          <p:cNvSpPr/>
          <p:nvPr/>
        </p:nvSpPr>
        <p:spPr>
          <a:xfrm>
            <a:off x="487680" y="1564078"/>
            <a:ext cx="5379720" cy="1713653"/>
          </a:xfrm>
          <a:prstGeom prst="rect">
            <a:avLst/>
          </a:prstGeom>
          <a:solidFill>
            <a:srgbClr val="1B2838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98AB5F-722F-F8D3-43BE-25FEAD96E423}"/>
              </a:ext>
            </a:extLst>
          </p:cNvPr>
          <p:cNvSpPr/>
          <p:nvPr/>
        </p:nvSpPr>
        <p:spPr>
          <a:xfrm>
            <a:off x="4485640" y="1717486"/>
            <a:ext cx="1097280" cy="390144"/>
          </a:xfrm>
          <a:prstGeom prst="roundRect">
            <a:avLst>
              <a:gd name="adj" fmla="val 15625"/>
            </a:avLst>
          </a:prstGeom>
          <a:solidFill>
            <a:srgbClr val="E63946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2F004D3-E6D8-50C9-F03A-AB7A01EC397F}"/>
              </a:ext>
            </a:extLst>
          </p:cNvPr>
          <p:cNvSpPr/>
          <p:nvPr/>
        </p:nvSpPr>
        <p:spPr>
          <a:xfrm>
            <a:off x="4485640" y="1717486"/>
            <a:ext cx="1097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929636-738B-C27C-01A1-64567B7D45DD}"/>
              </a:ext>
            </a:extLst>
          </p:cNvPr>
          <p:cNvSpPr/>
          <p:nvPr/>
        </p:nvSpPr>
        <p:spPr>
          <a:xfrm>
            <a:off x="714588" y="1685109"/>
            <a:ext cx="1989666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Intercept-Resend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93AD73C-D6BE-CA75-E0BA-711EEF757BA5}"/>
              </a:ext>
            </a:extLst>
          </p:cNvPr>
          <p:cNvSpPr/>
          <p:nvPr/>
        </p:nvSpPr>
        <p:spPr>
          <a:xfrm>
            <a:off x="714587" y="2157253"/>
            <a:ext cx="4868333" cy="90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theorem: intercettare un qubit del graph state introduce errori misurabili nello XOR check (QBER &gt; soglia 11%)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2A37C562-9EFF-6C2E-26F1-42F30705D9E1}"/>
              </a:ext>
            </a:extLst>
          </p:cNvPr>
          <p:cNvSpPr/>
          <p:nvPr/>
        </p:nvSpPr>
        <p:spPr>
          <a:xfrm>
            <a:off x="6324603" y="1564078"/>
            <a:ext cx="5379720" cy="1713653"/>
          </a:xfrm>
          <a:prstGeom prst="rect">
            <a:avLst/>
          </a:prstGeom>
          <a:solidFill>
            <a:srgbClr val="1B2838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C0715BD-8A83-5DEC-369B-A7C0F34C3623}"/>
              </a:ext>
            </a:extLst>
          </p:cNvPr>
          <p:cNvSpPr/>
          <p:nvPr/>
        </p:nvSpPr>
        <p:spPr>
          <a:xfrm>
            <a:off x="6551511" y="1711397"/>
            <a:ext cx="1989666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Dishonest TP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8">
                <a:extLst>
                  <a:ext uri="{FF2B5EF4-FFF2-40B4-BE49-F238E27FC236}">
                    <a16:creationId xmlns:a16="http://schemas.microsoft.com/office/drawing/2014/main" id="{FBB9C3F4-4C5C-2AA0-D217-13AEDA268E34}"/>
                  </a:ext>
                </a:extLst>
              </p:cNvPr>
              <p:cNvSpPr/>
              <p:nvPr/>
            </p:nvSpPr>
            <p:spPr>
              <a:xfrm>
                <a:off x="6551511" y="2157253"/>
                <a:ext cx="4868332" cy="90881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Il mediatore vede solo il graph state, mai le sub-key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a:rPr lang="en-US" sz="1400" i="1" dirty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dei dealers. La struttura XOR separa informazione quantistica da classica</a:t>
                </a:r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 8">
                <a:extLst>
                  <a:ext uri="{FF2B5EF4-FFF2-40B4-BE49-F238E27FC236}">
                    <a16:creationId xmlns:a16="http://schemas.microsoft.com/office/drawing/2014/main" id="{FBB9C3F4-4C5C-2AA0-D217-13AEDA268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511" y="2157253"/>
                <a:ext cx="4868332" cy="908813"/>
              </a:xfrm>
              <a:prstGeom prst="rect">
                <a:avLst/>
              </a:prstGeom>
              <a:blipFill>
                <a:blip r:embed="rId3"/>
                <a:stretch>
                  <a:fillRect l="-376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10">
            <a:extLst>
              <a:ext uri="{FF2B5EF4-FFF2-40B4-BE49-F238E27FC236}">
                <a16:creationId xmlns:a16="http://schemas.microsoft.com/office/drawing/2014/main" id="{A83FA362-FF00-E0C8-064E-FD88C5D1AB1C}"/>
              </a:ext>
            </a:extLst>
          </p:cNvPr>
          <p:cNvSpPr/>
          <p:nvPr/>
        </p:nvSpPr>
        <p:spPr>
          <a:xfrm>
            <a:off x="10322563" y="1717486"/>
            <a:ext cx="1097280" cy="390144"/>
          </a:xfrm>
          <a:prstGeom prst="roundRect">
            <a:avLst>
              <a:gd name="adj" fmla="val 15625"/>
            </a:avLst>
          </a:prstGeom>
          <a:solidFill>
            <a:srgbClr val="F4A261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79DC034E-5CC2-53FA-9F9F-89127766E68B}"/>
              </a:ext>
            </a:extLst>
          </p:cNvPr>
          <p:cNvSpPr/>
          <p:nvPr/>
        </p:nvSpPr>
        <p:spPr>
          <a:xfrm>
            <a:off x="10322563" y="1717486"/>
            <a:ext cx="1097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DC44EAA9-5A4A-58AB-FB51-9EAF4CC9636C}"/>
              </a:ext>
            </a:extLst>
          </p:cNvPr>
          <p:cNvSpPr/>
          <p:nvPr/>
        </p:nvSpPr>
        <p:spPr>
          <a:xfrm>
            <a:off x="487679" y="3725789"/>
            <a:ext cx="5379719" cy="1713653"/>
          </a:xfrm>
          <a:prstGeom prst="rect">
            <a:avLst/>
          </a:prstGeom>
          <a:solidFill>
            <a:srgbClr val="1B2838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B9159AA9-5033-646E-C924-C37EDE026EA5}"/>
              </a:ext>
            </a:extLst>
          </p:cNvPr>
          <p:cNvSpPr/>
          <p:nvPr/>
        </p:nvSpPr>
        <p:spPr>
          <a:xfrm>
            <a:off x="714587" y="3873108"/>
            <a:ext cx="2209799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Collusione Agenti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8">
                <a:extLst>
                  <a:ext uri="{FF2B5EF4-FFF2-40B4-BE49-F238E27FC236}">
                    <a16:creationId xmlns:a16="http://schemas.microsoft.com/office/drawing/2014/main" id="{377A0CAA-C9C2-FEC1-A4E2-118FDA3CEA8B}"/>
                  </a:ext>
                </a:extLst>
              </p:cNvPr>
              <p:cNvSpPr/>
              <p:nvPr/>
            </p:nvSpPr>
            <p:spPr>
              <a:xfrm>
                <a:off x="714588" y="4318964"/>
                <a:ext cx="4868332" cy="90881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Ogni agent ha solo la share parziale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𝑚</m:t>
                        </m:r>
                      </m:e>
                      <m:sub>
                        <m:sSub>
                          <m:sSubPr>
                            <m:ctrlPr>
                              <a:rPr lang="it-IT" sz="1400" b="0" i="1" dirty="0" smtClean="0">
                                <a:solidFill>
                                  <a:srgbClr val="E8EDF2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400" i="1" dirty="0" smtClean="0">
                                <a:solidFill>
                                  <a:srgbClr val="E8EDF2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400" i="1" dirty="0" smtClean="0">
                                <a:solidFill>
                                  <a:srgbClr val="E8EDF2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Solo lo XOR collettivo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1400" noProof="1" dirty="0">
                        <a:solidFill>
                          <a:srgbClr val="E8EDF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⊕</m:t>
                    </m:r>
                    <m:r>
                      <a:rPr lang="it-IT" sz="1400" b="0" i="1" noProof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sSub>
                      <m:sSubPr>
                        <m:ctrlPr>
                          <a:rPr lang="it-IT" sz="1400" i="1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i="1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𝑚</m:t>
                        </m:r>
                      </m:e>
                      <m:sub>
                        <m:r>
                          <a:rPr lang="it-IT" sz="1400" i="1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𝐵</m:t>
                        </m:r>
                        <m:sSub>
                          <m:sSubPr>
                            <m:ctrlPr>
                              <a:rPr lang="it-IT" sz="1400" i="1" noProof="1" dirty="0">
                                <a:solidFill>
                                  <a:srgbClr val="E8EDF2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1400" noProof="1" dirty="0">
                                <a:solidFill>
                                  <a:srgbClr val="E8EDF2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ob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1400" noProof="1" dirty="0">
                                <a:solidFill>
                                  <a:srgbClr val="E8EDF2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j</m:t>
                            </m:r>
                          </m:sub>
                        </m:sSub>
                      </m:sub>
                    </m:sSub>
                    <m:r>
                      <a:rPr lang="it-IT" sz="1400" noProof="1" dirty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 </m:t>
                    </m:r>
                    <m:r>
                      <m:rPr>
                        <m:nor/>
                      </m:rPr>
                      <a:rPr lang="it-IT" sz="1400" noProof="1" dirty="0">
                        <a:solidFill>
                          <a:srgbClr val="E8EDF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⨁</m:t>
                    </m:r>
                    <m:r>
                      <a:rPr lang="it-IT" sz="1400" i="1" noProof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⊕</m:t>
                    </m:r>
                    <m:sSub>
                      <m:sSubPr>
                        <m:ctrlPr>
                          <a:rPr lang="it-IT" sz="1400" i="1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𝐸</m:t>
                        </m:r>
                      </m:e>
                      <m:sub>
                        <m:r>
                          <a:rPr lang="it-IT" sz="1400" i="1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it-IT" sz="1400" noProof="1" dirty="0">
                        <a:solidFill>
                          <a:srgbClr val="E8EDF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m:t>⨁ </m:t>
                    </m:r>
                    <m:sSub>
                      <m:sSubPr>
                        <m:ctrlPr>
                          <a:rPr lang="it-IT" sz="1400" i="1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400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𝑏</m:t>
                        </m:r>
                      </m:e>
                      <m:sub>
                        <m:r>
                          <a:rPr lang="it-IT" sz="1400" noProof="1" dirty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ricostruisce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𝐾</m:t>
                        </m:r>
                      </m:e>
                      <m:sub>
                        <m:r>
                          <a:rPr lang="en-US" sz="1400" i="1" dirty="0" smtClean="0">
                            <a:solidFill>
                              <a:srgbClr val="E8EDF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𝑚𝑎𝑠𝑡𝑒𝑟</m:t>
                        </m:r>
                      </m:sub>
                    </m:sSub>
                  </m:oMath>
                </a14:m>
                <a:endParaRPr lang="en-US" sz="14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6" name="Text 8">
                <a:extLst>
                  <a:ext uri="{FF2B5EF4-FFF2-40B4-BE49-F238E27FC236}">
                    <a16:creationId xmlns:a16="http://schemas.microsoft.com/office/drawing/2014/main" id="{377A0CAA-C9C2-FEC1-A4E2-118FDA3CEA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88" y="4318964"/>
                <a:ext cx="4868332" cy="908813"/>
              </a:xfrm>
              <a:prstGeom prst="rect">
                <a:avLst/>
              </a:prstGeom>
              <a:blipFill>
                <a:blip r:embed="rId4"/>
                <a:stretch>
                  <a:fillRect l="-375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10">
            <a:extLst>
              <a:ext uri="{FF2B5EF4-FFF2-40B4-BE49-F238E27FC236}">
                <a16:creationId xmlns:a16="http://schemas.microsoft.com/office/drawing/2014/main" id="{C7288025-3A3A-FACB-5E82-88ABB5D487BB}"/>
              </a:ext>
            </a:extLst>
          </p:cNvPr>
          <p:cNvSpPr/>
          <p:nvPr/>
        </p:nvSpPr>
        <p:spPr>
          <a:xfrm>
            <a:off x="4485640" y="3879463"/>
            <a:ext cx="1097280" cy="390144"/>
          </a:xfrm>
          <a:prstGeom prst="roundRect">
            <a:avLst>
              <a:gd name="adj" fmla="val 15625"/>
            </a:avLst>
          </a:prstGeom>
          <a:solidFill>
            <a:srgbClr val="F4A261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E3D7314E-1EEA-6FAE-21B5-0118046D75C8}"/>
              </a:ext>
            </a:extLst>
          </p:cNvPr>
          <p:cNvSpPr/>
          <p:nvPr/>
        </p:nvSpPr>
        <p:spPr>
          <a:xfrm>
            <a:off x="4485640" y="3879463"/>
            <a:ext cx="1097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6590BC18-6C13-7164-7F4E-8AB3D491DEF9}"/>
              </a:ext>
            </a:extLst>
          </p:cNvPr>
          <p:cNvSpPr/>
          <p:nvPr/>
        </p:nvSpPr>
        <p:spPr>
          <a:xfrm>
            <a:off x="6324602" y="3725789"/>
            <a:ext cx="5379719" cy="1713653"/>
          </a:xfrm>
          <a:prstGeom prst="rect">
            <a:avLst/>
          </a:prstGeom>
          <a:solidFill>
            <a:srgbClr val="1B2838"/>
          </a:solidFill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B4473280-D3C5-3501-AB08-6F407E12F7AC}"/>
              </a:ext>
            </a:extLst>
          </p:cNvPr>
          <p:cNvSpPr/>
          <p:nvPr/>
        </p:nvSpPr>
        <p:spPr>
          <a:xfrm>
            <a:off x="6551510" y="3873108"/>
            <a:ext cx="2550159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Attacco Entanglement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92FCF1B6-3FC7-13C5-0E7C-C617770781E8}"/>
              </a:ext>
            </a:extLst>
          </p:cNvPr>
          <p:cNvSpPr/>
          <p:nvPr/>
        </p:nvSpPr>
        <p:spPr>
          <a:xfrm>
            <a:off x="6551511" y="4318964"/>
            <a:ext cx="4868332" cy="90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L'eavesdropper non può apprendere senza disturbare: misura su qubit entangled è rilevabile (soglia QBER 11%)</a:t>
            </a:r>
            <a:endParaRPr lang="en-US" sz="1400" dirty="0">
              <a:solidFill>
                <a:prstClr val="black"/>
              </a:solidFill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5C34CF55-F7F3-F866-36B2-FBBEE607814B}"/>
              </a:ext>
            </a:extLst>
          </p:cNvPr>
          <p:cNvSpPr/>
          <p:nvPr/>
        </p:nvSpPr>
        <p:spPr>
          <a:xfrm>
            <a:off x="10322563" y="3879463"/>
            <a:ext cx="1097280" cy="390144"/>
          </a:xfrm>
          <a:prstGeom prst="roundRect">
            <a:avLst>
              <a:gd name="adj" fmla="val 15625"/>
            </a:avLst>
          </a:prstGeom>
          <a:solidFill>
            <a:srgbClr val="2D6A4F"/>
          </a:solidFill>
          <a:ln w="190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8C4B1421-EFB2-7794-16DE-EF4C21485B9D}"/>
              </a:ext>
            </a:extLst>
          </p:cNvPr>
          <p:cNvSpPr/>
          <p:nvPr/>
        </p:nvSpPr>
        <p:spPr>
          <a:xfrm>
            <a:off x="10322563" y="3879463"/>
            <a:ext cx="1097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9792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A10F9-F28C-2A1E-AF24-E800A016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30D1B7-719C-C6F6-645A-DCD94D3CC608}"/>
              </a:ext>
            </a:extLst>
          </p:cNvPr>
          <p:cNvSpPr/>
          <p:nvPr/>
        </p:nvSpPr>
        <p:spPr>
          <a:xfrm>
            <a:off x="487680" y="243840"/>
            <a:ext cx="114147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Limiti e Sviluppi Futuri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1EDE104A-EC20-4B42-5504-FB54EA7580A6}"/>
              </a:ext>
            </a:extLst>
          </p:cNvPr>
          <p:cNvSpPr/>
          <p:nvPr/>
        </p:nvSpPr>
        <p:spPr>
          <a:xfrm>
            <a:off x="487680" y="1158240"/>
            <a:ext cx="5486400" cy="548640"/>
          </a:xfrm>
          <a:prstGeom prst="rect">
            <a:avLst/>
          </a:prstGeom>
          <a:solidFill>
            <a:srgbClr val="E63946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AD7289E-3019-9EFA-37F8-4AE7E4D0C239}"/>
              </a:ext>
            </a:extLst>
          </p:cNvPr>
          <p:cNvSpPr/>
          <p:nvPr/>
        </p:nvSpPr>
        <p:spPr>
          <a:xfrm>
            <a:off x="487680" y="1158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Limiti attuali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9663F7B-7B01-5C8F-F46B-0D553764CE4B}"/>
              </a:ext>
            </a:extLst>
          </p:cNvPr>
          <p:cNvSpPr/>
          <p:nvPr/>
        </p:nvSpPr>
        <p:spPr>
          <a:xfrm>
            <a:off x="487680" y="1889760"/>
            <a:ext cx="5486400" cy="1402080"/>
          </a:xfrm>
          <a:prstGeom prst="rect">
            <a:avLst/>
          </a:prstGeom>
          <a:solidFill>
            <a:srgbClr val="1B2838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C77D177-DC41-C034-BD8F-A1182958CCA3}"/>
              </a:ext>
            </a:extLst>
          </p:cNvPr>
          <p:cNvSpPr/>
          <p:nvPr/>
        </p:nvSpPr>
        <p:spPr>
          <a:xfrm>
            <a:off x="670560" y="1987296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E63946"/>
                </a:solidFill>
                <a:ea typeface="Trebuchet MS" pitchFamily="34" charset="-122"/>
                <a:cs typeface="Trebuchet MS" pitchFamily="34" charset="-120"/>
              </a:rPr>
              <a:t>⚠  Scalabilità DM formalism</a:t>
            </a:r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5">
                <a:extLst>
                  <a:ext uri="{FF2B5EF4-FFF2-40B4-BE49-F238E27FC236}">
                    <a16:creationId xmlns:a16="http://schemas.microsoft.com/office/drawing/2014/main" id="{792B6786-872F-8FED-AB31-9B4F35015A22}"/>
                  </a:ext>
                </a:extLst>
              </p:cNvPr>
              <p:cNvSpPr/>
              <p:nvPr/>
            </p:nvSpPr>
            <p:spPr>
              <a:xfrm>
                <a:off x="670560" y="2438400"/>
                <a:ext cx="5120640" cy="75590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1219170"/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 matrice densità scala come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𝑂</m:t>
                    </m:r>
                    <m:r>
                      <a:rPr lang="en-US" sz="1400" i="1" dirty="0" smtClean="0">
                        <a:solidFill>
                          <a:srgbClr val="E8EDF2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(2²ⁿ)</m:t>
                    </m:r>
                  </m:oMath>
                </a14:m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oltre N+M=10 qubit, i tempi di simulazione diventano proibitivi. Per reti </a:t>
                </a:r>
                <a:r>
                  <a:rPr lang="en-US" sz="1400" dirty="0" err="1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più</a:t>
                </a:r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dirty="0" err="1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grandi</a:t>
                </a:r>
                <a:r>
                  <a:rPr lang="en-US" sz="1400" dirty="0">
                    <a:solidFill>
                      <a:srgbClr val="E8EDF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serve il formalismo STAB o GSLC</a:t>
                </a:r>
                <a:endParaRPr lang="en-US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2" name="Text 5">
                <a:extLst>
                  <a:ext uri="{FF2B5EF4-FFF2-40B4-BE49-F238E27FC236}">
                    <a16:creationId xmlns:a16="http://schemas.microsoft.com/office/drawing/2014/main" id="{792B6786-872F-8FED-AB31-9B4F35015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" y="2438400"/>
                <a:ext cx="5120640" cy="755904"/>
              </a:xfrm>
              <a:prstGeom prst="rect">
                <a:avLst/>
              </a:prstGeom>
              <a:blipFill>
                <a:blip r:embed="rId3"/>
                <a:stretch>
                  <a:fillRect l="-357" b="-6452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6">
            <a:extLst>
              <a:ext uri="{FF2B5EF4-FFF2-40B4-BE49-F238E27FC236}">
                <a16:creationId xmlns:a16="http://schemas.microsoft.com/office/drawing/2014/main" id="{6E61258A-4424-3A3B-1E87-1FBF10A158D3}"/>
              </a:ext>
            </a:extLst>
          </p:cNvPr>
          <p:cNvSpPr/>
          <p:nvPr/>
        </p:nvSpPr>
        <p:spPr>
          <a:xfrm>
            <a:off x="487680" y="3450336"/>
            <a:ext cx="5486400" cy="1402080"/>
          </a:xfrm>
          <a:prstGeom prst="rect">
            <a:avLst/>
          </a:prstGeom>
          <a:solidFill>
            <a:srgbClr val="1B2838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D6563B2-6C05-C0F5-2979-1881A8D35553}"/>
              </a:ext>
            </a:extLst>
          </p:cNvPr>
          <p:cNvSpPr/>
          <p:nvPr/>
        </p:nvSpPr>
        <p:spPr>
          <a:xfrm>
            <a:off x="670560" y="3547872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E63946"/>
                </a:solidFill>
                <a:ea typeface="Trebuchet MS" pitchFamily="34" charset="-122"/>
                <a:cs typeface="Trebuchet MS" pitchFamily="34" charset="-120"/>
              </a:rPr>
              <a:t>⚠  Nessun error correction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734A27C-E351-9055-14D2-8A20DED35BC6}"/>
              </a:ext>
            </a:extLst>
          </p:cNvPr>
          <p:cNvSpPr/>
          <p:nvPr/>
        </p:nvSpPr>
        <p:spPr>
          <a:xfrm>
            <a:off x="670560" y="3998976"/>
            <a:ext cx="51206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protocollo non include codici correttori di errori né privacy amplification. In uno scenario reale, entrambi sarebbero necessari per garantire sicurezza composizionale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CADFBE02-0DBE-5BE0-9EE1-14FE63A0E67C}"/>
              </a:ext>
            </a:extLst>
          </p:cNvPr>
          <p:cNvSpPr/>
          <p:nvPr/>
        </p:nvSpPr>
        <p:spPr>
          <a:xfrm>
            <a:off x="487680" y="5010912"/>
            <a:ext cx="5486400" cy="1402080"/>
          </a:xfrm>
          <a:prstGeom prst="rect">
            <a:avLst/>
          </a:prstGeom>
          <a:solidFill>
            <a:srgbClr val="1B2838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E241AAA6-256C-0BDF-1DEF-76C76B6FE00D}"/>
              </a:ext>
            </a:extLst>
          </p:cNvPr>
          <p:cNvSpPr/>
          <p:nvPr/>
        </p:nvSpPr>
        <p:spPr>
          <a:xfrm>
            <a:off x="670560" y="5108448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E63946"/>
                </a:solidFill>
                <a:ea typeface="Trebuchet MS" pitchFamily="34" charset="-122"/>
                <a:cs typeface="Trebuchet MS" pitchFamily="34" charset="-120"/>
              </a:rPr>
              <a:t>⚠  Parametri non calibrati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67EEEDB4-717E-75DD-1CA5-EB67E979BA4F}"/>
              </a:ext>
            </a:extLst>
          </p:cNvPr>
          <p:cNvSpPr/>
          <p:nvPr/>
        </p:nvSpPr>
        <p:spPr>
          <a:xfrm>
            <a:off x="670560" y="5559552"/>
            <a:ext cx="51206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valori di noise rate sono astratti. Non sono calibrati su hardware reale (es. NV-center in diamante), limitando il confronto con esperimenti fisici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7AAE681C-D2C9-2666-447B-3090E9B81B23}"/>
              </a:ext>
            </a:extLst>
          </p:cNvPr>
          <p:cNvSpPr/>
          <p:nvPr/>
        </p:nvSpPr>
        <p:spPr>
          <a:xfrm>
            <a:off x="6217922" y="1158240"/>
            <a:ext cx="5486400" cy="548640"/>
          </a:xfrm>
          <a:prstGeom prst="rect">
            <a:avLst/>
          </a:prstGeom>
          <a:solidFill>
            <a:srgbClr val="00B4A6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E6C896EF-4D3E-F389-7C0A-D504C7D102B5}"/>
              </a:ext>
            </a:extLst>
          </p:cNvPr>
          <p:cNvSpPr/>
          <p:nvPr/>
        </p:nvSpPr>
        <p:spPr>
          <a:xfrm>
            <a:off x="6217922" y="1158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000" b="1" dirty="0">
                <a:solidFill>
                  <a:srgbClr val="1B2838"/>
                </a:solidFill>
                <a:ea typeface="Trebuchet MS" pitchFamily="34" charset="-122"/>
                <a:cs typeface="Trebuchet MS" pitchFamily="34" charset="-120"/>
              </a:rPr>
              <a:t>Sviluppi futuri</a:t>
            </a:r>
            <a:endParaRPr lang="en-US" sz="2000" dirty="0">
              <a:solidFill>
                <a:srgbClr val="1B2838"/>
              </a:solidFill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872F4749-82FD-F53C-909F-D1E8809E1109}"/>
              </a:ext>
            </a:extLst>
          </p:cNvPr>
          <p:cNvSpPr/>
          <p:nvPr/>
        </p:nvSpPr>
        <p:spPr>
          <a:xfrm>
            <a:off x="6217922" y="1889760"/>
            <a:ext cx="5486400" cy="14020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3D065686-A936-72BF-28DD-9D69A9029EC0}"/>
              </a:ext>
            </a:extLst>
          </p:cNvPr>
          <p:cNvSpPr/>
          <p:nvPr/>
        </p:nvSpPr>
        <p:spPr>
          <a:xfrm>
            <a:off x="6400802" y="1987296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  <a:ea typeface="Trebuchet MS" pitchFamily="34" charset="-122"/>
                <a:cs typeface="Trebuchet MS" pitchFamily="34" charset="-120"/>
              </a:rPr>
              <a:t>→  Formalismo STAB per grandi reti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5790466C-4E36-9FDD-790D-4BC91F9B0C1F}"/>
              </a:ext>
            </a:extLst>
          </p:cNvPr>
          <p:cNvSpPr/>
          <p:nvPr/>
        </p:nvSpPr>
        <p:spPr>
          <a:xfrm>
            <a:off x="6400802" y="2438400"/>
            <a:ext cx="51206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Adottare il formalismo a stabilizzatori per simulare catene di repeater con 50-100+ qubit, abilitando scenari di rete quantistica realistici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FE18A820-1095-F9D4-EB39-D99CC854C23C}"/>
              </a:ext>
            </a:extLst>
          </p:cNvPr>
          <p:cNvSpPr/>
          <p:nvPr/>
        </p:nvSpPr>
        <p:spPr>
          <a:xfrm>
            <a:off x="6217922" y="3450336"/>
            <a:ext cx="5486400" cy="14020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0BC7AC02-EE5A-0178-B2A8-B3AE64DCF310}"/>
              </a:ext>
            </a:extLst>
          </p:cNvPr>
          <p:cNvSpPr/>
          <p:nvPr/>
        </p:nvSpPr>
        <p:spPr>
          <a:xfrm>
            <a:off x="6400802" y="3547872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  <a:ea typeface="Trebuchet MS" pitchFamily="34" charset="-122"/>
                <a:cs typeface="Trebuchet MS" pitchFamily="34" charset="-120"/>
              </a:rPr>
              <a:t>→  Privacy amplification e sifting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C703FB8F-D223-BF80-F82F-3FD80E0DD94B}"/>
              </a:ext>
            </a:extLst>
          </p:cNvPr>
          <p:cNvSpPr/>
          <p:nvPr/>
        </p:nvSpPr>
        <p:spPr>
          <a:xfrm>
            <a:off x="6400802" y="3998976"/>
            <a:ext cx="51206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le fasi di sifting (confronto basi) e privacy amplification per produrre una chiave definitivamente sicura, completando il protocollo QKD completo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CC4CF949-A217-B299-D328-36CDCDC19D55}"/>
              </a:ext>
            </a:extLst>
          </p:cNvPr>
          <p:cNvSpPr/>
          <p:nvPr/>
        </p:nvSpPr>
        <p:spPr>
          <a:xfrm>
            <a:off x="6217922" y="5010912"/>
            <a:ext cx="5486400" cy="1402080"/>
          </a:xfrm>
          <a:prstGeom prst="rect">
            <a:avLst/>
          </a:prstGeom>
          <a:solidFill>
            <a:srgbClr val="1B2838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E0D3897D-73C8-D83D-12FB-7831A28876E1}"/>
              </a:ext>
            </a:extLst>
          </p:cNvPr>
          <p:cNvSpPr/>
          <p:nvPr/>
        </p:nvSpPr>
        <p:spPr>
          <a:xfrm>
            <a:off x="6400802" y="5108448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b="1" dirty="0">
                <a:solidFill>
                  <a:srgbClr val="00B4A6"/>
                </a:solidFill>
                <a:ea typeface="Trebuchet MS" pitchFamily="34" charset="-122"/>
                <a:cs typeface="Trebuchet MS" pitchFamily="34" charset="-120"/>
              </a:rPr>
              <a:t>→  Calibrazione su hardware NV-center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FA54D6EA-46DC-E033-F454-98FDC4A34800}"/>
              </a:ext>
            </a:extLst>
          </p:cNvPr>
          <p:cNvSpPr/>
          <p:nvPr/>
        </p:nvSpPr>
        <p:spPr>
          <a:xfrm>
            <a:off x="6400802" y="5559552"/>
            <a:ext cx="51206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Tarare i parametri di rumore su misure sperimentali reali di NV-center in diamante, rendendo la simulazione confrontabile con implementazioni fisiche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14284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A009B-D67D-153B-459B-326008CB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A3526B3-B0F5-C3C5-3C8B-508D9A616FCF}"/>
              </a:ext>
            </a:extLst>
          </p:cNvPr>
          <p:cNvSpPr/>
          <p:nvPr/>
        </p:nvSpPr>
        <p:spPr>
          <a:xfrm>
            <a:off x="0" y="0"/>
            <a:ext cx="3901440" cy="68580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0CC2BC4-79CF-658E-50DA-FCE304DC10F0}"/>
              </a:ext>
            </a:extLst>
          </p:cNvPr>
          <p:cNvSpPr/>
          <p:nvPr/>
        </p:nvSpPr>
        <p:spPr>
          <a:xfrm>
            <a:off x="121920" y="2682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Conclusioni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D3472DE-DB21-EC21-F621-C04115688BAC}"/>
              </a:ext>
            </a:extLst>
          </p:cNvPr>
          <p:cNvSpPr/>
          <p:nvPr/>
        </p:nvSpPr>
        <p:spPr>
          <a:xfrm>
            <a:off x="121920" y="3535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6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M2M-MQSS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NetSquid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B629B817-93A4-81A7-1529-1E65F9FF4C07}"/>
              </a:ext>
            </a:extLst>
          </p:cNvPr>
          <p:cNvSpPr/>
          <p:nvPr/>
        </p:nvSpPr>
        <p:spPr>
          <a:xfrm>
            <a:off x="121920" y="5608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Tsai et al.,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EPJ Quantum Technology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 99 (2025)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6C894FD-155F-69B4-59EC-E65A1228E602}"/>
              </a:ext>
            </a:extLst>
          </p:cNvPr>
          <p:cNvSpPr/>
          <p:nvPr/>
        </p:nvSpPr>
        <p:spPr>
          <a:xfrm>
            <a:off x="4179146" y="557106"/>
            <a:ext cx="768096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F4D9B15-335B-790D-3007-C660682D33A9}"/>
              </a:ext>
            </a:extLst>
          </p:cNvPr>
          <p:cNvSpPr/>
          <p:nvPr/>
        </p:nvSpPr>
        <p:spPr>
          <a:xfrm>
            <a:off x="4240106" y="618066"/>
            <a:ext cx="487680" cy="487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32D084E-6120-06AD-0C4A-0B8FE35F04D9}"/>
              </a:ext>
            </a:extLst>
          </p:cNvPr>
          <p:cNvSpPr/>
          <p:nvPr/>
        </p:nvSpPr>
        <p:spPr>
          <a:xfrm>
            <a:off x="4240106" y="618066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11254C9-D410-9E8B-B04F-A4FCAD637E48}"/>
              </a:ext>
            </a:extLst>
          </p:cNvPr>
          <p:cNvSpPr/>
          <p:nvPr/>
        </p:nvSpPr>
        <p:spPr>
          <a:xfrm>
            <a:off x="4910666" y="593682"/>
            <a:ext cx="69494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Correttezza verificata</a:t>
            </a: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recupero perfetto della master key in canale ideale per ogni configurazione N×M testata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1B4C5CF-C6A0-026E-82FA-0BA20D304805}"/>
              </a:ext>
            </a:extLst>
          </p:cNvPr>
          <p:cNvSpPr/>
          <p:nvPr/>
        </p:nvSpPr>
        <p:spPr>
          <a:xfrm>
            <a:off x="4179146" y="1995762"/>
            <a:ext cx="768096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26758FDD-02AC-9BD0-273D-BE91CA2D6D33}"/>
              </a:ext>
            </a:extLst>
          </p:cNvPr>
          <p:cNvSpPr/>
          <p:nvPr/>
        </p:nvSpPr>
        <p:spPr>
          <a:xfrm>
            <a:off x="4240106" y="2056722"/>
            <a:ext cx="487680" cy="487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0096E1D-E3CC-3E79-443A-605733958B53}"/>
              </a:ext>
            </a:extLst>
          </p:cNvPr>
          <p:cNvSpPr/>
          <p:nvPr/>
        </p:nvSpPr>
        <p:spPr>
          <a:xfrm>
            <a:off x="4240106" y="2056722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843890D6-5C78-36C2-486B-B4DA869AA19C}"/>
              </a:ext>
            </a:extLst>
          </p:cNvPr>
          <p:cNvSpPr/>
          <p:nvPr/>
        </p:nvSpPr>
        <p:spPr>
          <a:xfrm>
            <a:off x="4910666" y="2032338"/>
            <a:ext cx="69494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sicurezza rispettata</a:t>
            </a: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error rate &lt; 11% per noise rate ≤ 0.02 con depolarizing e dephasing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FA0C8E11-4B77-D856-C85D-99ED5C7A3242}"/>
              </a:ext>
            </a:extLst>
          </p:cNvPr>
          <p:cNvSpPr/>
          <p:nvPr/>
        </p:nvSpPr>
        <p:spPr>
          <a:xfrm>
            <a:off x="4179146" y="3434418"/>
            <a:ext cx="768096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8E83ABFD-BCBA-9713-BF8B-30AB8909B0C8}"/>
              </a:ext>
            </a:extLst>
          </p:cNvPr>
          <p:cNvSpPr/>
          <p:nvPr/>
        </p:nvSpPr>
        <p:spPr>
          <a:xfrm>
            <a:off x="4240106" y="3495378"/>
            <a:ext cx="487680" cy="487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7E0E055-3335-6345-0679-4608746537DF}"/>
              </a:ext>
            </a:extLst>
          </p:cNvPr>
          <p:cNvSpPr/>
          <p:nvPr/>
        </p:nvSpPr>
        <p:spPr>
          <a:xfrm>
            <a:off x="4240106" y="3495378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68E82CBF-0C5B-36AB-C4D5-5286CBB1D159}"/>
              </a:ext>
            </a:extLst>
          </p:cNvPr>
          <p:cNvSpPr/>
          <p:nvPr/>
        </p:nvSpPr>
        <p:spPr>
          <a:xfrm>
            <a:off x="4910666" y="3470994"/>
            <a:ext cx="69494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Scalabilità con trade-off</a:t>
            </a: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error rate cresce con N+M (accumulo rumore); key bits prodotti stabili (~500/2000)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848B080D-42A2-6681-1CC7-6D6D54D0F655}"/>
              </a:ext>
            </a:extLst>
          </p:cNvPr>
          <p:cNvSpPr/>
          <p:nvPr/>
        </p:nvSpPr>
        <p:spPr>
          <a:xfrm>
            <a:off x="4179146" y="4873074"/>
            <a:ext cx="768096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10212FB2-9A1A-8DD6-6D0D-34FB98559257}"/>
              </a:ext>
            </a:extLst>
          </p:cNvPr>
          <p:cNvSpPr/>
          <p:nvPr/>
        </p:nvSpPr>
        <p:spPr>
          <a:xfrm>
            <a:off x="4240106" y="4934034"/>
            <a:ext cx="487680" cy="487680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003BD6E6-CB5C-CCDF-BEFC-902FC893E97E}"/>
              </a:ext>
            </a:extLst>
          </p:cNvPr>
          <p:cNvSpPr/>
          <p:nvPr/>
        </p:nvSpPr>
        <p:spPr>
          <a:xfrm>
            <a:off x="4240106" y="4934034"/>
            <a:ext cx="487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8AC67FE1-33EB-258A-2B29-54AD13B95B95}"/>
              </a:ext>
            </a:extLst>
          </p:cNvPr>
          <p:cNvSpPr/>
          <p:nvPr/>
        </p:nvSpPr>
        <p:spPr>
          <a:xfrm>
            <a:off x="4910666" y="4909650"/>
            <a:ext cx="69494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Innovazione</a:t>
            </a: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primo schema M2M-MQSS in ambiente semi-quantistico ristretto  —  solo Z-basis + Hadamard richiesti ai partecipanti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6DEC3DC4-25A7-B15B-001E-7B18D28FB517}"/>
              </a:ext>
            </a:extLst>
          </p:cNvPr>
          <p:cNvSpPr/>
          <p:nvPr/>
        </p:nvSpPr>
        <p:spPr>
          <a:xfrm>
            <a:off x="4179146" y="6303943"/>
            <a:ext cx="7680960" cy="0"/>
          </a:xfrm>
          <a:prstGeom prst="line">
            <a:avLst/>
          </a:prstGeom>
          <a:noFill/>
          <a:ln w="6350">
            <a:solidFill>
              <a:srgbClr val="1B283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2466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1749</TotalTime>
  <Words>1417</Words>
  <Application>Microsoft Office PowerPoint</Application>
  <PresentationFormat>Widescreen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Consolas</vt:lpstr>
      <vt:lpstr>DM Sans</vt:lpstr>
      <vt:lpstr>Trebuchet MS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Nocerino</dc:creator>
  <cp:lastModifiedBy>Matteo Nocerino</cp:lastModifiedBy>
  <cp:revision>24</cp:revision>
  <dcterms:created xsi:type="dcterms:W3CDTF">2026-05-30T18:29:55Z</dcterms:created>
  <dcterms:modified xsi:type="dcterms:W3CDTF">2026-06-09T02:18:55Z</dcterms:modified>
</cp:coreProperties>
</file>