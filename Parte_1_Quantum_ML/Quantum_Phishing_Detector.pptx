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8"/>
  </p:notesMasterIdLst>
  <p:handoutMasterIdLst>
    <p:handoutMasterId r:id="rId19"/>
  </p:handoutMasterIdLst>
  <p:sldIdLst>
    <p:sldId id="261" r:id="rId2"/>
    <p:sldId id="257" r:id="rId3"/>
    <p:sldId id="259" r:id="rId4"/>
    <p:sldId id="272" r:id="rId5"/>
    <p:sldId id="258" r:id="rId6"/>
    <p:sldId id="260" r:id="rId7"/>
    <p:sldId id="262" r:id="rId8"/>
    <p:sldId id="274" r:id="rId9"/>
    <p:sldId id="277" r:id="rId10"/>
    <p:sldId id="281" r:id="rId11"/>
    <p:sldId id="279" r:id="rId12"/>
    <p:sldId id="284" r:id="rId13"/>
    <p:sldId id="286" r:id="rId14"/>
    <p:sldId id="288" r:id="rId15"/>
    <p:sldId id="290" r:id="rId16"/>
    <p:sldId id="291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B341"/>
    <a:srgbClr val="3FB950"/>
    <a:srgbClr val="F78166"/>
    <a:srgbClr val="22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6A9C370F-CA46-E62B-74AE-81110ED907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00C0B3-FC27-AEEC-36D9-A517B088DA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E3AB0-A7AB-46D4-A716-3B63D24A8DCF}" type="datetimeFigureOut">
              <a:rPr lang="it-IT" smtClean="0"/>
              <a:t>07/05/2026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F51B423-75B6-E4BE-A5E6-29E6EA5647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295E67B-00DF-D2ED-4E73-107495BF05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93B65-243D-458D-9503-DAB651E3E88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3034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60082-731A-4942-8E8D-E05F95C4D1FD}" type="datetimeFigureOut">
              <a:rPr lang="it-IT" smtClean="0"/>
              <a:t>07/05/2026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2AFC0-F557-45A6-94BF-BC3BF542BCB0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386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899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438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184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770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3593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83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822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5A0E-39C1-9EDA-928B-1436CAA9E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372F6-BE46-E630-44DB-FBC7E8199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9F1A3-0EC3-5B54-5AA1-6820CFFA5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995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0C197-EEDD-69AF-1372-34286C4D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6D35B-A9E7-6404-748E-7578D0088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6DFEB-603D-5879-5B1E-3A133D9621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244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E248C-C357-C493-A65D-400CDA4DF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2D6EC-5994-877A-A946-89F1CBB3E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AE373-5D41-33DE-B8ED-E786CA895B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57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818C-E702-67F5-4635-4C3128EA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AC903-2289-0F2A-5A6E-6B89C1275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1ADD0-9451-F789-9B5E-8FE0BB7AA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622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4141-5581-065E-772F-6FAE7DF1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66478-91FA-B1B8-242D-AE79FA9E1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EE080-9800-8EBA-6DA8-664918696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699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A8FAC-2F44-E052-D5FF-1B2B8ADF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24EAE-1BB4-546D-7330-58D9C387D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1833B-FB79-EF8B-94CF-10DBDACCA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225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0C7E0-1A30-DB65-A3FE-6A6AA834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068D7-26D6-781E-962B-2C0E9F1D9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550F6-15D6-9879-7B20-901E800EC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015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1EC5-6B70-4197-B7ED-8B4A1782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CAE6E-06AD-5415-DE4C-8AE0D080F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CE572-6177-7DF1-58A7-5803EC315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891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0DB3-5B9E-E53A-3CD6-008DB4BF9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0F4FD-ADB6-02D9-F3BF-ACCAA5208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C7228-4B78-BA3A-8072-D204B6756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91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97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igura a mano libera: forma 18">
            <a:extLst>
              <a:ext uri="{FF2B5EF4-FFF2-40B4-BE49-F238E27FC236}">
                <a16:creationId xmlns:a16="http://schemas.microsoft.com/office/drawing/2014/main" id="{17AB6681-EC15-2CE9-01CD-AAEA19E339A8}"/>
              </a:ext>
            </a:extLst>
          </p:cNvPr>
          <p:cNvSpPr/>
          <p:nvPr/>
        </p:nvSpPr>
        <p:spPr>
          <a:xfrm>
            <a:off x="0" y="4632960"/>
            <a:ext cx="3657600" cy="2225040"/>
          </a:xfrm>
          <a:custGeom>
            <a:avLst/>
            <a:gdLst>
              <a:gd name="csX0" fmla="*/ 1524000 w 3657600"/>
              <a:gd name="csY0" fmla="*/ 0 h 2225040"/>
              <a:gd name="csX1" fmla="*/ 3657600 w 3657600"/>
              <a:gd name="csY1" fmla="*/ 2133600 h 2225040"/>
              <a:gd name="csX2" fmla="*/ 3652983 w 3657600"/>
              <a:gd name="csY2" fmla="*/ 2225040 h 2225040"/>
              <a:gd name="csX3" fmla="*/ 0 w 3657600"/>
              <a:gd name="csY3" fmla="*/ 2225040 h 2225040"/>
              <a:gd name="csX4" fmla="*/ 0 w 3657600"/>
              <a:gd name="csY4" fmla="*/ 641770 h 2225040"/>
              <a:gd name="csX5" fmla="*/ 15317 w 3657600"/>
              <a:gd name="csY5" fmla="*/ 624917 h 2225040"/>
              <a:gd name="csX6" fmla="*/ 1524000 w 3657600"/>
              <a:gd name="csY6" fmla="*/ 0 h 2225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657600" h="2225040">
                <a:moveTo>
                  <a:pt x="1524000" y="0"/>
                </a:moveTo>
                <a:cubicBezTo>
                  <a:pt x="2702355" y="0"/>
                  <a:pt x="3657600" y="955245"/>
                  <a:pt x="3657600" y="2133600"/>
                </a:cubicBezTo>
                <a:lnTo>
                  <a:pt x="3652983" y="2225040"/>
                </a:lnTo>
                <a:lnTo>
                  <a:pt x="0" y="2225040"/>
                </a:lnTo>
                <a:lnTo>
                  <a:pt x="0" y="641770"/>
                </a:lnTo>
                <a:lnTo>
                  <a:pt x="15317" y="624917"/>
                </a:lnTo>
                <a:cubicBezTo>
                  <a:pt x="401423" y="238811"/>
                  <a:pt x="934823" y="0"/>
                  <a:pt x="1524000" y="0"/>
                </a:cubicBezTo>
                <a:close/>
              </a:path>
            </a:pathLst>
          </a:custGeom>
          <a:solidFill>
            <a:srgbClr val="022B3A">
              <a:alpha val="7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 wrap="square">
            <a:noAutofit/>
          </a:bodyPr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25CBCB0-D6B3-323B-22E7-BE127554EA03}"/>
              </a:ext>
            </a:extLst>
          </p:cNvPr>
          <p:cNvSpPr/>
          <p:nvPr/>
        </p:nvSpPr>
        <p:spPr>
          <a:xfrm>
            <a:off x="609600" y="5334000"/>
            <a:ext cx="4825042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Quantistiche per la Sicurezza  |  A.A. 2025–26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FCB5AC4-AEB7-2731-AB9A-62D58B0563FF}"/>
              </a:ext>
            </a:extLst>
          </p:cNvPr>
          <p:cNvSpPr/>
          <p:nvPr/>
        </p:nvSpPr>
        <p:spPr>
          <a:xfrm>
            <a:off x="609601" y="4846320"/>
            <a:ext cx="167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Nocerino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EEE0765-3E44-D058-A208-16665F004830}"/>
              </a:ext>
            </a:extLst>
          </p:cNvPr>
          <p:cNvSpPr/>
          <p:nvPr/>
        </p:nvSpPr>
        <p:spPr>
          <a:xfrm>
            <a:off x="267420" y="609600"/>
            <a:ext cx="12192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dirty="0">
                <a:solidFill>
                  <a:srgbClr val="000000"/>
                </a:solidFill>
                <a:latin typeface="Calibri" panose="020F0502020204030204"/>
              </a:rPr>
              <a:t>🔐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6CCD3AF-9252-FAF0-B70D-47297FC07713}"/>
              </a:ext>
            </a:extLst>
          </p:cNvPr>
          <p:cNvSpPr/>
          <p:nvPr/>
        </p:nvSpPr>
        <p:spPr>
          <a:xfrm>
            <a:off x="609600" y="1584960"/>
            <a:ext cx="85344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Quantum-Enhanced</a:t>
            </a:r>
            <a:endParaRPr lang="en-US" sz="5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</a:t>
            </a:r>
            <a:endParaRPr lang="en-US" sz="5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B840D3BF-7EFD-E71D-2959-E9A7A8353797}"/>
              </a:ext>
            </a:extLst>
          </p:cNvPr>
          <p:cNvSpPr/>
          <p:nvPr/>
        </p:nvSpPr>
        <p:spPr>
          <a:xfrm>
            <a:off x="609600" y="3718560"/>
            <a:ext cx="853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CE15E5C-643D-A711-9E7B-53C9F3DEC906}"/>
              </a:ext>
            </a:extLst>
          </p:cNvPr>
          <p:cNvSpPr/>
          <p:nvPr/>
        </p:nvSpPr>
        <p:spPr>
          <a:xfrm>
            <a:off x="609600" y="384048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kern="0" spc="267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QSVC  ·  VQC  ·  Classical Baseline  ·  Ablation Study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Figura a mano libera: forma 19">
            <a:extLst>
              <a:ext uri="{FF2B5EF4-FFF2-40B4-BE49-F238E27FC236}">
                <a16:creationId xmlns:a16="http://schemas.microsoft.com/office/drawing/2014/main" id="{7E811940-2BC3-FEC8-AC2F-9ECF1B0E4DEF}"/>
              </a:ext>
            </a:extLst>
          </p:cNvPr>
          <p:cNvSpPr/>
          <p:nvPr/>
        </p:nvSpPr>
        <p:spPr>
          <a:xfrm>
            <a:off x="8290560" y="0"/>
            <a:ext cx="3901440" cy="4145280"/>
          </a:xfrm>
          <a:custGeom>
            <a:avLst/>
            <a:gdLst>
              <a:gd name="csX0" fmla="*/ 552018 w 3901440"/>
              <a:gd name="csY0" fmla="*/ 0 h 4145280"/>
              <a:gd name="csX1" fmla="*/ 3901440 w 3901440"/>
              <a:gd name="csY1" fmla="*/ 0 h 4145280"/>
              <a:gd name="csX2" fmla="*/ 3901440 w 3901440"/>
              <a:gd name="csY2" fmla="*/ 3762925 h 4145280"/>
              <a:gd name="csX3" fmla="*/ 3780721 w 3901440"/>
              <a:gd name="csY3" fmla="*/ 3836263 h 4145280"/>
              <a:gd name="csX4" fmla="*/ 2560320 w 3901440"/>
              <a:gd name="csY4" fmla="*/ 4145280 h 4145280"/>
              <a:gd name="csX5" fmla="*/ 0 w 3901440"/>
              <a:gd name="csY5" fmla="*/ 1584960 h 4145280"/>
              <a:gd name="csX6" fmla="*/ 437262 w 3901440"/>
              <a:gd name="csY6" fmla="*/ 153461 h 41452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01440" h="4145280">
                <a:moveTo>
                  <a:pt x="552018" y="0"/>
                </a:moveTo>
                <a:lnTo>
                  <a:pt x="3901440" y="0"/>
                </a:lnTo>
                <a:lnTo>
                  <a:pt x="3901440" y="3762925"/>
                </a:lnTo>
                <a:lnTo>
                  <a:pt x="3780721" y="3836263"/>
                </a:lnTo>
                <a:cubicBezTo>
                  <a:pt x="3417941" y="4033337"/>
                  <a:pt x="3002203" y="4145280"/>
                  <a:pt x="2560320" y="4145280"/>
                </a:cubicBezTo>
                <a:cubicBezTo>
                  <a:pt x="1146294" y="4145280"/>
                  <a:pt x="0" y="2998986"/>
                  <a:pt x="0" y="1584960"/>
                </a:cubicBezTo>
                <a:cubicBezTo>
                  <a:pt x="0" y="1054700"/>
                  <a:pt x="161198" y="562090"/>
                  <a:pt x="437262" y="153461"/>
                </a:cubicBezTo>
                <a:close/>
              </a:path>
            </a:pathLst>
          </a:custGeom>
          <a:solidFill>
            <a:srgbClr val="1A1F6E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 wrap="square">
            <a:noAutofit/>
          </a:bodyPr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6737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605" y="243840"/>
            <a:ext cx="1115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Problema: Phishing Detection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DA76F4C4-0F67-A91F-9A66-4B735EEC561E}"/>
              </a:ext>
            </a:extLst>
          </p:cNvPr>
          <p:cNvSpPr/>
          <p:nvPr/>
        </p:nvSpPr>
        <p:spPr>
          <a:xfrm>
            <a:off x="566570" y="1728073"/>
            <a:ext cx="2340000" cy="126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693F996-3B0E-675A-3252-9347480875FD}"/>
              </a:ext>
            </a:extLst>
          </p:cNvPr>
          <p:cNvSpPr/>
          <p:nvPr/>
        </p:nvSpPr>
        <p:spPr>
          <a:xfrm>
            <a:off x="566570" y="1789033"/>
            <a:ext cx="23310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3.4B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DDB6D53-B2F6-9123-AB63-7249FABC21D0}"/>
              </a:ext>
            </a:extLst>
          </p:cNvPr>
          <p:cNvSpPr/>
          <p:nvPr/>
        </p:nvSpPr>
        <p:spPr>
          <a:xfrm>
            <a:off x="566570" y="2337673"/>
            <a:ext cx="233103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giorno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4E8D589E-A2A0-B068-AD81-4CA9C9BBF327}"/>
              </a:ext>
            </a:extLst>
          </p:cNvPr>
          <p:cNvSpPr/>
          <p:nvPr/>
        </p:nvSpPr>
        <p:spPr>
          <a:xfrm>
            <a:off x="3501847" y="1728073"/>
            <a:ext cx="2340000" cy="126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B445D079-8906-10F5-D7D1-CEC43DEFF458}"/>
              </a:ext>
            </a:extLst>
          </p:cNvPr>
          <p:cNvSpPr/>
          <p:nvPr/>
        </p:nvSpPr>
        <p:spPr>
          <a:xfrm>
            <a:off x="3501847" y="1789033"/>
            <a:ext cx="23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 99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C9B26E4D-2C0E-2DFA-3BC2-D5DBFB76DB1E}"/>
              </a:ext>
            </a:extLst>
          </p:cNvPr>
          <p:cNvSpPr/>
          <p:nvPr/>
        </p:nvSpPr>
        <p:spPr>
          <a:xfrm>
            <a:off x="3501847" y="2337673"/>
            <a:ext cx="234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contiene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attacco phishing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9C8EE89F-0908-72F2-B9BE-3E1C96ED9FBE}"/>
              </a:ext>
            </a:extLst>
          </p:cNvPr>
          <p:cNvSpPr/>
          <p:nvPr/>
        </p:nvSpPr>
        <p:spPr>
          <a:xfrm>
            <a:off x="6437125" y="1728073"/>
            <a:ext cx="2340000" cy="126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976776CF-9A30-C73C-E5D8-8F84BDA2D417}"/>
              </a:ext>
            </a:extLst>
          </p:cNvPr>
          <p:cNvSpPr/>
          <p:nvPr/>
        </p:nvSpPr>
        <p:spPr>
          <a:xfrm>
            <a:off x="6437125" y="1789033"/>
            <a:ext cx="23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549k+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9229C346-0558-1551-A434-DDFAF145E4F5}"/>
              </a:ext>
            </a:extLst>
          </p:cNvPr>
          <p:cNvSpPr/>
          <p:nvPr/>
        </p:nvSpPr>
        <p:spPr>
          <a:xfrm>
            <a:off x="6437125" y="2337673"/>
            <a:ext cx="234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nel dataset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(pubblico)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27FE675E-394B-DC41-BD38-B712858DDE8F}"/>
              </a:ext>
            </a:extLst>
          </p:cNvPr>
          <p:cNvSpPr/>
          <p:nvPr/>
        </p:nvSpPr>
        <p:spPr>
          <a:xfrm>
            <a:off x="9373285" y="1728073"/>
            <a:ext cx="2331034" cy="126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5FB64E9E-26CB-A74A-397E-641BAE5F7E7B}"/>
              </a:ext>
            </a:extLst>
          </p:cNvPr>
          <p:cNvSpPr/>
          <p:nvPr/>
        </p:nvSpPr>
        <p:spPr>
          <a:xfrm>
            <a:off x="9373285" y="1789033"/>
            <a:ext cx="2331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B7DAB0EA-09BC-E72A-E736-F60FEFE4EC9A}"/>
              </a:ext>
            </a:extLst>
          </p:cNvPr>
          <p:cNvSpPr/>
          <p:nvPr/>
        </p:nvSpPr>
        <p:spPr>
          <a:xfrm>
            <a:off x="9373285" y="2337673"/>
            <a:ext cx="233103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disponibile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classificare un URL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A5F45D11-2D75-601A-1075-38011EFE2656}"/>
              </a:ext>
            </a:extLst>
          </p:cNvPr>
          <p:cNvSpPr/>
          <p:nvPr/>
        </p:nvSpPr>
        <p:spPr>
          <a:xfrm>
            <a:off x="557605" y="3429000"/>
            <a:ext cx="3291840" cy="17165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807A7DBA-2506-0E32-7BD0-F4A21B1C2F8F}"/>
              </a:ext>
            </a:extLst>
          </p:cNvPr>
          <p:cNvSpPr/>
          <p:nvPr/>
        </p:nvSpPr>
        <p:spPr>
          <a:xfrm>
            <a:off x="675042" y="3550920"/>
            <a:ext cx="30569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quantistici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70CA0B88-3FE3-F5D3-6D55-B5E57B820F34}"/>
              </a:ext>
            </a:extLst>
          </p:cNvPr>
          <p:cNvSpPr/>
          <p:nvPr/>
        </p:nvSpPr>
        <p:spPr>
          <a:xfrm>
            <a:off x="675042" y="4038600"/>
            <a:ext cx="3056966" cy="91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Mappano i dati in spazi di Hilbert di </a:t>
            </a:r>
          </a:p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dimensione, potenzialmente </a:t>
            </a:r>
          </a:p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simulabili classicamente </a:t>
            </a:r>
          </a:p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(Havlíček et al., Nature 2019)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FB9C537A-A9BA-822D-E3F3-6152AD92403C}"/>
              </a:ext>
            </a:extLst>
          </p:cNvPr>
          <p:cNvSpPr/>
          <p:nvPr/>
        </p:nvSpPr>
        <p:spPr>
          <a:xfrm>
            <a:off x="4494007" y="3429000"/>
            <a:ext cx="3291840" cy="17165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B3E24182-85D9-745B-493F-303179596204}"/>
              </a:ext>
            </a:extLst>
          </p:cNvPr>
          <p:cNvSpPr/>
          <p:nvPr/>
        </p:nvSpPr>
        <p:spPr>
          <a:xfrm>
            <a:off x="4607859" y="3550920"/>
            <a:ext cx="30569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9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Classificatori variazionali (VQC)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C8E1D66A-701C-DF4F-7D34-A0173FF325B0}"/>
              </a:ext>
            </a:extLst>
          </p:cNvPr>
          <p:cNvSpPr/>
          <p:nvPr/>
        </p:nvSpPr>
        <p:spPr>
          <a:xfrm>
            <a:off x="4671847" y="4038600"/>
            <a:ext cx="3056966" cy="624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Circuiti parametrici ottimizzati con algoritmi classici — schema ibrido </a:t>
            </a:r>
          </a:p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 hardware NISQ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21">
            <a:extLst>
              <a:ext uri="{FF2B5EF4-FFF2-40B4-BE49-F238E27FC236}">
                <a16:creationId xmlns:a16="http://schemas.microsoft.com/office/drawing/2014/main" id="{BEDAD916-ADC4-0A36-A0D0-44799CFA9696}"/>
              </a:ext>
            </a:extLst>
          </p:cNvPr>
          <p:cNvSpPr/>
          <p:nvPr/>
        </p:nvSpPr>
        <p:spPr>
          <a:xfrm>
            <a:off x="8430410" y="3429000"/>
            <a:ext cx="3273909" cy="171656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34F961EB-CCEA-3C12-A07D-F4A73399914F}"/>
              </a:ext>
            </a:extLst>
          </p:cNvPr>
          <p:cNvSpPr/>
          <p:nvPr/>
        </p:nvSpPr>
        <p:spPr>
          <a:xfrm>
            <a:off x="8543364" y="3550920"/>
            <a:ext cx="3039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aperta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DB17FFEA-E870-C527-AB4D-2B9930EFBA04}"/>
              </a:ext>
            </a:extLst>
          </p:cNvPr>
          <p:cNvSpPr/>
          <p:nvPr/>
        </p:nvSpPr>
        <p:spPr>
          <a:xfrm>
            <a:off x="8543364" y="4042306"/>
            <a:ext cx="3039751" cy="630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quali problemi reali il QML offre vantaggi misurabili rispetto al </a:t>
            </a:r>
          </a:p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classico?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8F7CE774-0D2F-A915-9D30-CC4CEF263645}"/>
              </a:ext>
            </a:extLst>
          </p:cNvPr>
          <p:cNvSpPr/>
          <p:nvPr/>
        </p:nvSpPr>
        <p:spPr>
          <a:xfrm>
            <a:off x="557605" y="5586489"/>
            <a:ext cx="11155680" cy="594591"/>
          </a:xfrm>
          <a:prstGeom prst="rect">
            <a:avLst/>
          </a:prstGeom>
          <a:solidFill>
            <a:srgbClr val="0D2137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91452B7B-4419-C35C-52C0-495D62E16D17}"/>
              </a:ext>
            </a:extLst>
          </p:cNvPr>
          <p:cNvSpPr/>
          <p:nvPr/>
        </p:nvSpPr>
        <p:spPr>
          <a:xfrm>
            <a:off x="557605" y="5586489"/>
            <a:ext cx="11146714" cy="594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empirico su phishing URL detection — QSVC vs VQC vs baseline classica, stesse metriche, stesso dataset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AD043C0-0DB1-A971-89A1-FA8DB7C8BBAE}"/>
              </a:ext>
            </a:extLst>
          </p:cNvPr>
          <p:cNvSpPr/>
          <p:nvPr/>
        </p:nvSpPr>
        <p:spPr>
          <a:xfrm>
            <a:off x="557605" y="1162741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it-IT" sz="16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applicare il Quantum Machine Learning a un problema reale di cybersecurity?</a:t>
            </a:r>
            <a:endParaRPr 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72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magine 49">
            <a:extLst>
              <a:ext uri="{FF2B5EF4-FFF2-40B4-BE49-F238E27FC236}">
                <a16:creationId xmlns:a16="http://schemas.microsoft.com/office/drawing/2014/main" id="{CF9ACC9B-2060-36A8-B3DC-DC85392DE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6018" y="1664990"/>
            <a:ext cx="7899964" cy="494917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D2C155CF-73FE-B434-03FE-DCFCD39AE921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F8837AB-CE0E-2AEA-93D5-77CAC0E43EE6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C3FFDF-D947-5988-985B-531BDF9ABADF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it-IT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Attori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use case e </a:t>
            </a:r>
            <a:r>
              <a:rPr lang="it-IT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&lt;&lt;include&gt;&gt; / &lt;&lt;extend&gt;&gt; · notazione UML</a:t>
            </a:r>
            <a:endParaRPr 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63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magine 56">
            <a:extLst>
              <a:ext uri="{FF2B5EF4-FFF2-40B4-BE49-F238E27FC236}">
                <a16:creationId xmlns:a16="http://schemas.microsoft.com/office/drawing/2014/main" id="{31168907-2F74-B5F3-D696-7661A574A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9918" y="1664085"/>
            <a:ext cx="8292163" cy="495007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4312074-077C-525C-70ED-88D8635658AE}"/>
              </a:ext>
            </a:extLst>
          </p:cNvPr>
          <p:cNvSpPr/>
          <p:nvPr/>
        </p:nvSpPr>
        <p:spPr>
          <a:xfrm>
            <a:off x="557605" y="243840"/>
            <a:ext cx="1115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E72C1A3-D140-A196-CBA4-D6C6CCDC8425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EDF6EAC-99AA-E74F-38A7-AA829C818D45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Modellazione dinamica UML : flusso di controllo, decisioni, fork/join</a:t>
            </a:r>
            <a:endParaRPr 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72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magine 53">
            <a:extLst>
              <a:ext uri="{FF2B5EF4-FFF2-40B4-BE49-F238E27FC236}">
                <a16:creationId xmlns:a16="http://schemas.microsoft.com/office/drawing/2014/main" id="{A4E05B6E-42DF-30F1-CB48-C092EB78B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605" y="2070848"/>
            <a:ext cx="11160274" cy="387275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3571A4D-5BDE-E1A5-6FC9-9826742F3908}"/>
              </a:ext>
            </a:extLst>
          </p:cNvPr>
          <p:cNvSpPr/>
          <p:nvPr/>
        </p:nvSpPr>
        <p:spPr>
          <a:xfrm>
            <a:off x="557605" y="243840"/>
            <a:ext cx="1115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3B5FB3F-BFB3-7203-2A46-E516D0CAA841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C89DDDDE-0498-35DC-1415-5871BFE89E4A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connectors (lollipop+socket), dipendenza «use» · notazione UML </a:t>
            </a:r>
            <a:endParaRPr 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53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43E4F3BB-970E-C078-5D85-583A8A7621BA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D238148B-6B01-9706-DCD9-CB36BC869216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1B8E2FF-BB3E-81E2-9127-C00BF88D2CA9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549k+ URL Kaggle · undersampling → 2000 bilanciati · scala [0, π] · seed = 42 · zero API esterne</a:t>
            </a:r>
            <a:endParaRPr lang="en-US" sz="1600" dirty="0">
              <a:solidFill>
                <a:prstClr val="black"/>
              </a:solidFill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73E70BEA-FB9A-BAA4-F761-52E91026B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543854"/>
              </p:ext>
            </p:extLst>
          </p:nvPr>
        </p:nvGraphicFramePr>
        <p:xfrm>
          <a:off x="557605" y="1720636"/>
          <a:ext cx="11146714" cy="3291840"/>
        </p:xfrm>
        <a:graphic>
          <a:graphicData uri="http://schemas.openxmlformats.org/drawingml/2006/table">
            <a:tbl>
              <a:tblPr/>
              <a:tblGrid>
                <a:gridCol w="2134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0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2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URL_Length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Lunghezza totale URL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lunghi tipici del phishing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len(url)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Shannon_Entropy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Entropia di Shannon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entropia → offuscamento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it-IT" sz="1400" kern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math.log2</a:t>
                      </a:r>
                      <a:endParaRPr lang="en-US" sz="1400" kern="1200" dirty="0">
                        <a:solidFill>
                          <a:srgbClr val="F0F6FC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Subdomain_Count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sottodomini nel dominio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Molti sottodomini → phishing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it-IT" sz="1400" kern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+ str.split('.')</a:t>
                      </a:r>
                      <a:endParaRPr lang="en-US" sz="1400" kern="1200" dirty="0">
                        <a:solidFill>
                          <a:srgbClr val="F0F6FC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Special_Char_Count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it-IT" sz="1400" kern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Conteggio: @ - _ % # =</a:t>
                      </a:r>
                      <a:endParaRPr lang="en-US" sz="1400" kern="1200" dirty="0">
                        <a:solidFill>
                          <a:srgbClr val="F0F6FC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@, %, – tipici del phishing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it-IT" sz="1400" kern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re.findall(r'[@\-_%#=]')</a:t>
                      </a:r>
                      <a:endParaRPr lang="en-US" sz="1400" kern="1200" dirty="0">
                        <a:solidFill>
                          <a:srgbClr val="F0F6FC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Digit_Ratio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cifre nell'URL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% cifre → dominio auto-generato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it-IT" sz="1400" kern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str.isdigit()</a:t>
                      </a:r>
                      <a:endParaRPr lang="en-US" sz="1400" kern="1200" dirty="0">
                        <a:solidFill>
                          <a:srgbClr val="F0F6FC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3">
            <a:extLst>
              <a:ext uri="{FF2B5EF4-FFF2-40B4-BE49-F238E27FC236}">
                <a16:creationId xmlns:a16="http://schemas.microsoft.com/office/drawing/2014/main" id="{DDA097C8-4823-0D6C-51EE-18F0E6EC026C}"/>
              </a:ext>
            </a:extLst>
          </p:cNvPr>
          <p:cNvSpPr/>
          <p:nvPr/>
        </p:nvSpPr>
        <p:spPr>
          <a:xfrm>
            <a:off x="548640" y="5261117"/>
            <a:ext cx="341376" cy="3413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B09C918-29D1-54F4-4E6C-D8263E0B5FAF}"/>
              </a:ext>
            </a:extLst>
          </p:cNvPr>
          <p:cNvSpPr/>
          <p:nvPr/>
        </p:nvSpPr>
        <p:spPr>
          <a:xfrm>
            <a:off x="945585" y="5255933"/>
            <a:ext cx="173126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Caricamento 549k+ URL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9C004D8-40F0-F512-440F-3E29748AC19F}"/>
              </a:ext>
            </a:extLst>
          </p:cNvPr>
          <p:cNvSpPr/>
          <p:nvPr/>
        </p:nvSpPr>
        <p:spPr>
          <a:xfrm>
            <a:off x="2966131" y="5258318"/>
            <a:ext cx="341376" cy="3413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A396C94-702D-FCC5-0BA5-769301381CA7}"/>
              </a:ext>
            </a:extLst>
          </p:cNvPr>
          <p:cNvSpPr/>
          <p:nvPr/>
        </p:nvSpPr>
        <p:spPr>
          <a:xfrm>
            <a:off x="3358432" y="5268324"/>
            <a:ext cx="1511809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it-IT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 5 feature</a:t>
            </a:r>
          </a:p>
          <a:p>
            <a:pPr defTabSz="1219170"/>
            <a:r>
              <a:rPr lang="it-IT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(RegEx + Python)</a:t>
            </a:r>
            <a:endParaRPr lang="en-US" sz="1200" dirty="0">
              <a:solidFill>
                <a:srgbClr val="8B949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2538EE37-6150-D371-982D-B87D85EA0EDD}"/>
              </a:ext>
            </a:extLst>
          </p:cNvPr>
          <p:cNvSpPr/>
          <p:nvPr/>
        </p:nvSpPr>
        <p:spPr>
          <a:xfrm>
            <a:off x="5159300" y="5254115"/>
            <a:ext cx="336965" cy="3413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3A86A29-BFE7-8EF9-4AFE-19012A88264A}"/>
              </a:ext>
            </a:extLst>
          </p:cNvPr>
          <p:cNvSpPr/>
          <p:nvPr/>
        </p:nvSpPr>
        <p:spPr>
          <a:xfrm>
            <a:off x="5550432" y="5254789"/>
            <a:ext cx="182923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Undersampling bilanciato</a:t>
            </a:r>
          </a:p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(2.000)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A8613FBE-265F-D86B-2091-774DC18A7AF5}"/>
              </a:ext>
            </a:extLst>
          </p:cNvPr>
          <p:cNvSpPr/>
          <p:nvPr/>
        </p:nvSpPr>
        <p:spPr>
          <a:xfrm>
            <a:off x="7670385" y="5258318"/>
            <a:ext cx="341376" cy="3413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075CD41-EE59-9FA9-6799-6FBA4B7EBA0C}"/>
              </a:ext>
            </a:extLst>
          </p:cNvPr>
          <p:cNvSpPr/>
          <p:nvPr/>
        </p:nvSpPr>
        <p:spPr>
          <a:xfrm>
            <a:off x="8063175" y="5249234"/>
            <a:ext cx="1536192" cy="28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Train/Test split 80/20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9489B7BA-70D5-F74C-6301-457359CE32C4}"/>
              </a:ext>
            </a:extLst>
          </p:cNvPr>
          <p:cNvSpPr/>
          <p:nvPr/>
        </p:nvSpPr>
        <p:spPr>
          <a:xfrm>
            <a:off x="9888426" y="5255818"/>
            <a:ext cx="341376" cy="3413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BF39CB8-20AF-9614-1AA4-01A1B472E39C}"/>
              </a:ext>
            </a:extLst>
          </p:cNvPr>
          <p:cNvSpPr/>
          <p:nvPr/>
        </p:nvSpPr>
        <p:spPr>
          <a:xfrm>
            <a:off x="10282874" y="5257098"/>
            <a:ext cx="1421445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Scaling in [0, π] per </a:t>
            </a:r>
          </a:p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encoding qubit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E86AB05D-7EDE-186C-5C71-31A02CB6F448}"/>
              </a:ext>
            </a:extLst>
          </p:cNvPr>
          <p:cNvSpPr/>
          <p:nvPr/>
        </p:nvSpPr>
        <p:spPr>
          <a:xfrm>
            <a:off x="557605" y="5895883"/>
            <a:ext cx="1114671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URL_Length ↔ Special_Char_Count </a:t>
            </a:r>
            <a:r>
              <a:rPr lang="it-IT" altLang="it-IT" sz="12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presentano alta correlazione (r=0.82). Sebbene tollerabile dai modelli ad albero classici, questa ridondanza rappresenta una sfida per l'encoding quantistico (analisi successiva)</a:t>
            </a:r>
            <a:endParaRPr lang="en-US" sz="1200" dirty="0">
              <a:solidFill>
                <a:srgbClr val="E3B34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863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E1BC9E4E-884B-54EF-4616-A99B702DF73A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Feature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656025DC-E7E0-C185-13B5-B02132585043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81FE130-BA38-E4AF-C825-6D4B6AA25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5" y="1961457"/>
            <a:ext cx="5021689" cy="4548333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BBB45798-032A-CF96-63BA-63AC77B8CEF3}"/>
              </a:ext>
            </a:extLst>
          </p:cNvPr>
          <p:cNvSpPr/>
          <p:nvPr/>
        </p:nvSpPr>
        <p:spPr>
          <a:xfrm>
            <a:off x="6095999" y="1733395"/>
            <a:ext cx="5608320" cy="32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chiave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A5CBE9D9-2F05-4544-E109-1D2A1F31BE89}"/>
              </a:ext>
            </a:extLst>
          </p:cNvPr>
          <p:cNvSpPr/>
          <p:nvPr/>
        </p:nvSpPr>
        <p:spPr>
          <a:xfrm>
            <a:off x="6095999" y="2158322"/>
            <a:ext cx="5608320" cy="85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26DD1E35-B77C-8576-39B2-9DD431DDDE56}"/>
              </a:ext>
            </a:extLst>
          </p:cNvPr>
          <p:cNvSpPr/>
          <p:nvPr/>
        </p:nvSpPr>
        <p:spPr>
          <a:xfrm>
            <a:off x="6095999" y="2158322"/>
            <a:ext cx="85344" cy="8534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9D51FE5E-32E2-22EA-EE6C-456448F7FD23}"/>
              </a:ext>
            </a:extLst>
          </p:cNvPr>
          <p:cNvSpPr/>
          <p:nvPr/>
        </p:nvSpPr>
        <p:spPr>
          <a:xfrm>
            <a:off x="6278879" y="2182706"/>
            <a:ext cx="5303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 ↔ Special_Char_Count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FEC8AFA-BF34-88FC-D9B3-67F3B8BA6F9E}"/>
              </a:ext>
            </a:extLst>
          </p:cNvPr>
          <p:cNvSpPr/>
          <p:nvPr/>
        </p:nvSpPr>
        <p:spPr>
          <a:xfrm>
            <a:off x="6278879" y="2487506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0.82 — correlazione molto alta: entrambe catturano la complessità dell'URL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6FA3EEBD-6EA1-5A0C-4FC5-7C0DDF4960EF}"/>
              </a:ext>
            </a:extLst>
          </p:cNvPr>
          <p:cNvSpPr/>
          <p:nvPr/>
        </p:nvSpPr>
        <p:spPr>
          <a:xfrm>
            <a:off x="6095999" y="3109298"/>
            <a:ext cx="5608320" cy="85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E8A466F0-098B-0E64-9FF6-C49C50EAE3F2}"/>
              </a:ext>
            </a:extLst>
          </p:cNvPr>
          <p:cNvSpPr/>
          <p:nvPr/>
        </p:nvSpPr>
        <p:spPr>
          <a:xfrm>
            <a:off x="6095999" y="3109298"/>
            <a:ext cx="85344" cy="8534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EECACFCC-0D9C-02D8-55C2-B8AF8D4E57CC}"/>
              </a:ext>
            </a:extLst>
          </p:cNvPr>
          <p:cNvSpPr/>
          <p:nvPr/>
        </p:nvSpPr>
        <p:spPr>
          <a:xfrm>
            <a:off x="6278879" y="3133682"/>
            <a:ext cx="5303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 ↔ Shannon_Entropy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F504D2C-A84D-90CC-89B0-61327D6D209E}"/>
              </a:ext>
            </a:extLst>
          </p:cNvPr>
          <p:cNvSpPr/>
          <p:nvPr/>
        </p:nvSpPr>
        <p:spPr>
          <a:xfrm>
            <a:off x="6278879" y="3438482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0.65 — correlazione moderata: URL lunghi tendono ad essere più complessi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2A32E55C-140D-9EF8-E1BF-C3F17803FE73}"/>
              </a:ext>
            </a:extLst>
          </p:cNvPr>
          <p:cNvSpPr/>
          <p:nvPr/>
        </p:nvSpPr>
        <p:spPr>
          <a:xfrm>
            <a:off x="6095999" y="4060274"/>
            <a:ext cx="5608320" cy="85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E488C35D-FA9D-DA61-774B-DB723B1C517A}"/>
              </a:ext>
            </a:extLst>
          </p:cNvPr>
          <p:cNvSpPr/>
          <p:nvPr/>
        </p:nvSpPr>
        <p:spPr>
          <a:xfrm>
            <a:off x="6095999" y="4060274"/>
            <a:ext cx="85344" cy="853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6B2CAF0-18A4-38D5-2511-41E82EBCE59A}"/>
              </a:ext>
            </a:extLst>
          </p:cNvPr>
          <p:cNvSpPr/>
          <p:nvPr/>
        </p:nvSpPr>
        <p:spPr>
          <a:xfrm>
            <a:off x="6278879" y="4084658"/>
            <a:ext cx="5303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Subdomain_Count indipendente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D874414-C715-AB71-5EB6-CD5D9052DD3A}"/>
              </a:ext>
            </a:extLst>
          </p:cNvPr>
          <p:cNvSpPr/>
          <p:nvPr/>
        </p:nvSpPr>
        <p:spPr>
          <a:xfrm>
            <a:off x="6278879" y="4389458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Correlazioni basse (max 0.25): cattura informazione complementare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62D14B79-4E5C-09A8-3C46-ED00DC92F2F3}"/>
              </a:ext>
            </a:extLst>
          </p:cNvPr>
          <p:cNvSpPr/>
          <p:nvPr/>
        </p:nvSpPr>
        <p:spPr>
          <a:xfrm>
            <a:off x="6095999" y="5011250"/>
            <a:ext cx="5608320" cy="85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1A871493-EFDD-870D-E4EE-7A55BB5DC66A}"/>
              </a:ext>
            </a:extLst>
          </p:cNvPr>
          <p:cNvSpPr/>
          <p:nvPr/>
        </p:nvSpPr>
        <p:spPr>
          <a:xfrm>
            <a:off x="6095999" y="5011250"/>
            <a:ext cx="85344" cy="853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847A9E34-8782-03A2-DF22-00E439F23F44}"/>
              </a:ext>
            </a:extLst>
          </p:cNvPr>
          <p:cNvSpPr/>
          <p:nvPr/>
        </p:nvSpPr>
        <p:spPr>
          <a:xfrm>
            <a:off x="6278879" y="5035634"/>
            <a:ext cx="5303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Digit_Ratio indipendente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4EF495D-70D3-8C9E-F794-6066689AF730}"/>
              </a:ext>
            </a:extLst>
          </p:cNvPr>
          <p:cNvSpPr/>
          <p:nvPr/>
        </p:nvSpPr>
        <p:spPr>
          <a:xfrm>
            <a:off x="6278879" y="5340434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Correlazioni molto basse (max 0.22): feature ortogonale, utile per generalizzazione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E55D22B0-4DF8-1F22-1C41-295415B22DCC}"/>
              </a:ext>
            </a:extLst>
          </p:cNvPr>
          <p:cNvSpPr/>
          <p:nvPr/>
        </p:nvSpPr>
        <p:spPr>
          <a:xfrm>
            <a:off x="6095999" y="5998802"/>
            <a:ext cx="5608320" cy="609600"/>
          </a:xfrm>
          <a:prstGeom prst="rect">
            <a:avLst/>
          </a:prstGeom>
          <a:solidFill>
            <a:srgbClr val="0D2137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E379DC82-1608-C1FA-022D-21EA652C40DB}"/>
              </a:ext>
            </a:extLst>
          </p:cNvPr>
          <p:cNvSpPr/>
          <p:nvPr/>
        </p:nvSpPr>
        <p:spPr>
          <a:xfrm>
            <a:off x="6217919" y="6023186"/>
            <a:ext cx="53644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Implicazione per QML: 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correlate riducono il rango informativo effettivo → ZZFeatureMap fatica a costruire kernel discriminativi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DAE1AE7E-CAFF-3292-D696-C21177861489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di correlazione · analisi della ridondaza · implicazioni per l’encoding quantistico </a:t>
            </a:r>
            <a:endParaRPr 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3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6888A-F1B2-E91A-19D7-3B85D918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CA015381-05EB-0F48-0EDF-1A0C870ACBCE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dei Modelli Quantistici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576C1059-216E-73BE-39C9-B8F53508CC2C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0BC666B6-FEA5-7203-E0EF-CF1B05A24E27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QSVC con quantum kernel · VQC variazionale · simulazione su statevector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430CE29-0D19-D7B9-878A-2A3AA4E140A5}"/>
              </a:ext>
            </a:extLst>
          </p:cNvPr>
          <p:cNvSpPr/>
          <p:nvPr/>
        </p:nvSpPr>
        <p:spPr>
          <a:xfrm>
            <a:off x="557604" y="1733394"/>
            <a:ext cx="5358247" cy="4214387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6772D1B-61CB-42AF-2759-F20D8A16EFEF}"/>
              </a:ext>
            </a:extLst>
          </p:cNvPr>
          <p:cNvSpPr/>
          <p:nvPr/>
        </p:nvSpPr>
        <p:spPr>
          <a:xfrm>
            <a:off x="557605" y="1733393"/>
            <a:ext cx="5358246" cy="36000"/>
          </a:xfrm>
          <a:prstGeom prst="rect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6300997-5770-D31F-7C49-3E8C78C91DCA}"/>
              </a:ext>
            </a:extLst>
          </p:cNvPr>
          <p:cNvSpPr/>
          <p:nvPr/>
        </p:nvSpPr>
        <p:spPr>
          <a:xfrm>
            <a:off x="740485" y="1830931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QSVC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AAA7534-2D43-7E96-7A71-CF1254E3876A}"/>
              </a:ext>
            </a:extLst>
          </p:cNvPr>
          <p:cNvSpPr/>
          <p:nvPr/>
        </p:nvSpPr>
        <p:spPr>
          <a:xfrm>
            <a:off x="740485" y="2282035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Support Vector Classifier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B41BF30-E8BC-3AD8-326C-37B4358BA228}"/>
              </a:ext>
            </a:extLst>
          </p:cNvPr>
          <p:cNvSpPr/>
          <p:nvPr/>
        </p:nvSpPr>
        <p:spPr>
          <a:xfrm>
            <a:off x="740484" y="2769715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D9F7FA9-EB9D-0E16-9B8C-15988FF31C9E}"/>
              </a:ext>
            </a:extLst>
          </p:cNvPr>
          <p:cNvSpPr/>
          <p:nvPr/>
        </p:nvSpPr>
        <p:spPr>
          <a:xfrm>
            <a:off x="2386405" y="2769715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ZZFeatureMap(5 qubit, reps=2, linear)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B2B8142-BA4A-69D8-B839-C07A27CD5B7B}"/>
              </a:ext>
            </a:extLst>
          </p:cNvPr>
          <p:cNvSpPr/>
          <p:nvPr/>
        </p:nvSpPr>
        <p:spPr>
          <a:xfrm>
            <a:off x="740484" y="3281779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8FE52339-C53D-9539-387C-505EF0F42141}"/>
                  </a:ext>
                </a:extLst>
              </p:cNvPr>
              <p:cNvSpPr/>
              <p:nvPr/>
            </p:nvSpPr>
            <p:spPr>
              <a:xfrm>
                <a:off x="2386405" y="3281779"/>
                <a:ext cx="3529446" cy="426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1219170"/>
                <a:r>
                  <a:rPr lang="en-US" sz="1200" dirty="0">
                    <a:solidFill>
                      <a:srgbClr val="F0F6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FidelityQuantumKernel — </a:t>
                </a:r>
                <a14:m>
                  <m:oMath xmlns:m="http://schemas.openxmlformats.org/officeDocument/2006/math">
                    <m:r>
                      <a:rPr lang="it-IT" sz="1200" b="0" i="1" smtClean="0">
                        <a:solidFill>
                          <a:srgbClr val="F0F6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d>
                      <m:dPr>
                        <m:ctrlPr>
                          <a:rPr lang="it-IT" sz="12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it-IT" sz="12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𝑥</m:t>
                        </m:r>
                        <m:r>
                          <a:rPr lang="it-IT" sz="12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</m:t>
                        </m:r>
                        <m:sSup>
                          <m:sSupPr>
                            <m:ctrlPr>
                              <a:rPr lang="it-IT" sz="12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it-IT" sz="12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𝑥</m:t>
                            </m:r>
                          </m:e>
                          <m:sup>
                            <m:r>
                              <a:rPr lang="it-IT" sz="12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it-IT" sz="1200" b="0" i="1" smtClean="0">
                        <a:solidFill>
                          <a:srgbClr val="F0F6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it-IT" sz="12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|"/>
                            <m:ctrlPr>
                              <a:rPr lang="it-IT" sz="12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dPr>
                          <m:e>
                            <m:r>
                              <a:rPr lang="it-IT" sz="12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it-IT" sz="1200" b="0" i="1" smtClean="0">
                                    <a:solidFill>
                                      <a:srgbClr val="F0F6FC"/>
                                    </a:solidFill>
                                    <a:latin typeface="Cambria Math" panose="02040503050406030204" pitchFamily="18" charset="0"/>
                                    <a:ea typeface="Calibri" pitchFamily="34" charset="-122"/>
                                    <a:cs typeface="Calibri" pitchFamily="34" charset="-120"/>
                                  </a:rPr>
                                </m:ctrlPr>
                              </m:dPr>
                              <m:e>
                                <m:r>
                                  <a:rPr lang="it-IT" sz="1200" b="0" i="1" smtClean="0">
                                    <a:solidFill>
                                      <a:srgbClr val="F0F6FC"/>
                                    </a:solidFill>
                                    <a:latin typeface="Cambria Math" panose="02040503050406030204" pitchFamily="18" charset="0"/>
                                    <a:ea typeface="Calibri" pitchFamily="34" charset="-122"/>
                                    <a:cs typeface="Calibri" pitchFamily="34" charset="-12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it-IT" sz="12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𝜙</m:t>
                        </m:r>
                        <m:d>
                          <m:dPr>
                            <m:ctrlPr>
                              <a:rPr lang="it-IT" sz="12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it-IT" sz="1200" b="0" i="1" smtClean="0">
                                    <a:solidFill>
                                      <a:srgbClr val="F0F6FC"/>
                                    </a:solidFill>
                                    <a:latin typeface="Cambria Math" panose="02040503050406030204" pitchFamily="18" charset="0"/>
                                    <a:ea typeface="Calibri" pitchFamily="34" charset="-122"/>
                                    <a:cs typeface="Calibri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it-IT" sz="1200" b="0" i="1" smtClean="0">
                                    <a:solidFill>
                                      <a:srgbClr val="F0F6FC"/>
                                    </a:solidFill>
                                    <a:latin typeface="Cambria Math" panose="02040503050406030204" pitchFamily="18" charset="0"/>
                                    <a:ea typeface="Calibri" pitchFamily="34" charset="-122"/>
                                    <a:cs typeface="Calibri" pitchFamily="34" charset="-12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it-IT" sz="1200" b="0" i="1" smtClean="0">
                                    <a:solidFill>
                                      <a:srgbClr val="F0F6FC"/>
                                    </a:solidFill>
                                    <a:latin typeface="Cambria Math" panose="02040503050406030204" pitchFamily="18" charset="0"/>
                                    <a:ea typeface="Calibri" pitchFamily="34" charset="-122"/>
                                    <a:cs typeface="Calibri" pitchFamily="34" charset="-12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sSup>
                      <m:sSupPr>
                        <m:ctrlPr>
                          <a:rPr lang="it-IT" sz="12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it-IT" sz="12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dPr>
                          <m:e>
                            <m:r>
                              <a:rPr lang="it-IT" sz="12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it-IT" sz="12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8FE52339-C53D-9539-387C-505EF0F421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405" y="3281779"/>
                <a:ext cx="3529446" cy="426720"/>
              </a:xfrm>
              <a:prstGeom prst="rect">
                <a:avLst/>
              </a:prstGeom>
              <a:blipFill>
                <a:blip r:embed="rId3"/>
                <a:stretch>
                  <a:fillRect l="-2591" t="-44286" r="-864" b="-87143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11">
            <a:extLst>
              <a:ext uri="{FF2B5EF4-FFF2-40B4-BE49-F238E27FC236}">
                <a16:creationId xmlns:a16="http://schemas.microsoft.com/office/drawing/2014/main" id="{7E5FA28B-CB25-EC66-78E1-A91A292625B5}"/>
              </a:ext>
            </a:extLst>
          </p:cNvPr>
          <p:cNvSpPr/>
          <p:nvPr/>
        </p:nvSpPr>
        <p:spPr>
          <a:xfrm>
            <a:off x="740484" y="3793843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Classificatore: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546A180-75AD-B166-2269-AA7827165609}"/>
              </a:ext>
            </a:extLst>
          </p:cNvPr>
          <p:cNvSpPr/>
          <p:nvPr/>
        </p:nvSpPr>
        <p:spPr>
          <a:xfrm>
            <a:off x="2386405" y="3793843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con kernel matrix quantistica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47A5D4E7-AC80-6C0F-FBBC-2D4F4477BBDD}"/>
              </a:ext>
            </a:extLst>
          </p:cNvPr>
          <p:cNvSpPr/>
          <p:nvPr/>
        </p:nvSpPr>
        <p:spPr>
          <a:xfrm>
            <a:off x="740484" y="4305907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Campioni train: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E35618D2-301D-0C43-5047-0A4D9B0D5533}"/>
              </a:ext>
            </a:extLst>
          </p:cNvPr>
          <p:cNvSpPr/>
          <p:nvPr/>
        </p:nvSpPr>
        <p:spPr>
          <a:xfrm>
            <a:off x="2386405" y="4305907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(100 per classe) — limite O(N²) sim.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5ED2A558-A5DF-F9B6-BA6B-3C82225E6D9F}"/>
              </a:ext>
            </a:extLst>
          </p:cNvPr>
          <p:cNvSpPr/>
          <p:nvPr/>
        </p:nvSpPr>
        <p:spPr>
          <a:xfrm>
            <a:off x="740484" y="4817971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Complessità: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05CD5B11-0994-8550-D271-A175E0CFAC2F}"/>
              </a:ext>
            </a:extLst>
          </p:cNvPr>
          <p:cNvSpPr/>
          <p:nvPr/>
        </p:nvSpPr>
        <p:spPr>
          <a:xfrm>
            <a:off x="2386405" y="4817971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circuit evaluations per kernel matrix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163A8B35-BBFE-50D6-140B-36E71FD9D24F}"/>
              </a:ext>
            </a:extLst>
          </p:cNvPr>
          <p:cNvSpPr/>
          <p:nvPr/>
        </p:nvSpPr>
        <p:spPr>
          <a:xfrm>
            <a:off x="740484" y="5330035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training: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4992F2EC-9722-0602-412C-2FA2E6321B01}"/>
              </a:ext>
            </a:extLst>
          </p:cNvPr>
          <p:cNvSpPr/>
          <p:nvPr/>
        </p:nvSpPr>
        <p:spPr>
          <a:xfrm>
            <a:off x="2386405" y="5330035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~592 secondi su simulatore statevector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BA4DC378-8D7B-BB78-EFA4-C104AC53B65B}"/>
              </a:ext>
            </a:extLst>
          </p:cNvPr>
          <p:cNvSpPr/>
          <p:nvPr/>
        </p:nvSpPr>
        <p:spPr>
          <a:xfrm>
            <a:off x="6346073" y="1738366"/>
            <a:ext cx="5358246" cy="4205233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4310A44F-D598-E9F1-0016-36A743FACE2B}"/>
              </a:ext>
            </a:extLst>
          </p:cNvPr>
          <p:cNvSpPr/>
          <p:nvPr/>
        </p:nvSpPr>
        <p:spPr>
          <a:xfrm>
            <a:off x="6346073" y="1733393"/>
            <a:ext cx="5358246" cy="36000"/>
          </a:xfrm>
          <a:prstGeom prst="rect">
            <a:avLst/>
          </a:prstGeom>
          <a:solidFill>
            <a:srgbClr val="F78166"/>
          </a:solidFill>
          <a:ln w="1905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9377D920-9B03-61DA-981C-89D593F9D3C5}"/>
              </a:ext>
            </a:extLst>
          </p:cNvPr>
          <p:cNvSpPr/>
          <p:nvPr/>
        </p:nvSpPr>
        <p:spPr>
          <a:xfrm>
            <a:off x="6528952" y="1840648"/>
            <a:ext cx="5175367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8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FE950B37-9D93-79CE-FFEF-73950918AC18}"/>
              </a:ext>
            </a:extLst>
          </p:cNvPr>
          <p:cNvSpPr/>
          <p:nvPr/>
        </p:nvSpPr>
        <p:spPr>
          <a:xfrm>
            <a:off x="6528952" y="2291752"/>
            <a:ext cx="51753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Classifier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386393D8-A294-988F-2A4B-A49FFC2885FE}"/>
              </a:ext>
            </a:extLst>
          </p:cNvPr>
          <p:cNvSpPr/>
          <p:nvPr/>
        </p:nvSpPr>
        <p:spPr>
          <a:xfrm>
            <a:off x="6528952" y="2779432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C80FEDDE-4C2F-6970-E4D9-122598C6DEA0}"/>
              </a:ext>
            </a:extLst>
          </p:cNvPr>
          <p:cNvSpPr/>
          <p:nvPr/>
        </p:nvSpPr>
        <p:spPr>
          <a:xfrm>
            <a:off x="8174873" y="2779432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ZZFeatureMap(5 qubit, reps=2, linear)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78FFD95F-8C3C-3FC6-3E2E-CB1D29A3B41B}"/>
              </a:ext>
            </a:extLst>
          </p:cNvPr>
          <p:cNvSpPr/>
          <p:nvPr/>
        </p:nvSpPr>
        <p:spPr>
          <a:xfrm>
            <a:off x="6528952" y="3291496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F8D125DF-C208-AAD1-683A-6DBBD385EDD1}"/>
              </a:ext>
            </a:extLst>
          </p:cNvPr>
          <p:cNvSpPr/>
          <p:nvPr/>
        </p:nvSpPr>
        <p:spPr>
          <a:xfrm>
            <a:off x="8174873" y="3291496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RealAmplitudes(reps=2, linear) — 15 parametri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F64A7BE4-64EE-3452-4ABB-8924B7D282C6}"/>
              </a:ext>
            </a:extLst>
          </p:cNvPr>
          <p:cNvSpPr/>
          <p:nvPr/>
        </p:nvSpPr>
        <p:spPr>
          <a:xfrm>
            <a:off x="6528952" y="3803560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Ottimizzatore: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9B869EC8-5018-B89F-2C0B-4DA5A88293C4}"/>
              </a:ext>
            </a:extLst>
          </p:cNvPr>
          <p:cNvSpPr/>
          <p:nvPr/>
        </p:nvSpPr>
        <p:spPr>
          <a:xfrm>
            <a:off x="8174873" y="3803560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COBYLA(maxiter=200) — gradient-free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D549EF3E-8212-C9B6-EB79-07E366EFBE8C}"/>
              </a:ext>
            </a:extLst>
          </p:cNvPr>
          <p:cNvSpPr/>
          <p:nvPr/>
        </p:nvSpPr>
        <p:spPr>
          <a:xfrm>
            <a:off x="6528952" y="4315624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Campioni train: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923A861B-E9E4-B55A-2C7F-E9BECF7297A9}"/>
              </a:ext>
            </a:extLst>
          </p:cNvPr>
          <p:cNvSpPr/>
          <p:nvPr/>
        </p:nvSpPr>
        <p:spPr>
          <a:xfrm>
            <a:off x="8174873" y="4315624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(150 per classe) — scala O(N · iter)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B5A8B5F4-C953-8BFA-E292-2622BAEF50D4}"/>
              </a:ext>
            </a:extLst>
          </p:cNvPr>
          <p:cNvSpPr/>
          <p:nvPr/>
        </p:nvSpPr>
        <p:spPr>
          <a:xfrm>
            <a:off x="6528952" y="4827688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Complessità: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20F4A018-52EF-ACDA-2AC1-166991E62E31}"/>
              </a:ext>
            </a:extLst>
          </p:cNvPr>
          <p:cNvSpPr/>
          <p:nvPr/>
        </p:nvSpPr>
        <p:spPr>
          <a:xfrm>
            <a:off x="8174873" y="4827688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· iter) — più scalabile del QSVC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1FADCD91-156E-D465-6472-7AE5EB2EA413}"/>
              </a:ext>
            </a:extLst>
          </p:cNvPr>
          <p:cNvSpPr/>
          <p:nvPr/>
        </p:nvSpPr>
        <p:spPr>
          <a:xfrm>
            <a:off x="6528952" y="5339752"/>
            <a:ext cx="173263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training: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F9E5B699-FE05-BBFE-8E08-1C66566F9A72}"/>
              </a:ext>
            </a:extLst>
          </p:cNvPr>
          <p:cNvSpPr/>
          <p:nvPr/>
        </p:nvSpPr>
        <p:spPr>
          <a:xfrm>
            <a:off x="8174873" y="5339752"/>
            <a:ext cx="35294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~849 secondi su simulatore statevector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35">
            <a:extLst>
              <a:ext uri="{FF2B5EF4-FFF2-40B4-BE49-F238E27FC236}">
                <a16:creationId xmlns:a16="http://schemas.microsoft.com/office/drawing/2014/main" id="{168B51B5-7090-9553-B903-B91908971999}"/>
              </a:ext>
            </a:extLst>
          </p:cNvPr>
          <p:cNvSpPr/>
          <p:nvPr/>
        </p:nvSpPr>
        <p:spPr>
          <a:xfrm>
            <a:off x="557606" y="6102096"/>
            <a:ext cx="5358247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36">
                <a:extLst>
                  <a:ext uri="{FF2B5EF4-FFF2-40B4-BE49-F238E27FC236}">
                    <a16:creationId xmlns:a16="http://schemas.microsoft.com/office/drawing/2014/main" id="{519484AB-0633-DB8B-90C3-4934C5ADDBD5}"/>
                  </a:ext>
                </a:extLst>
              </p:cNvPr>
              <p:cNvSpPr/>
              <p:nvPr/>
            </p:nvSpPr>
            <p:spPr>
              <a:xfrm>
                <a:off x="740485" y="6102096"/>
                <a:ext cx="5079290" cy="512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1219170"/>
                <a:r>
                  <a:rPr lang="en-US" sz="1200" b="1" dirty="0">
                    <a:solidFill>
                      <a:srgbClr val="AC6AE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Pipeline QSVC: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200" b="0" i="1" dirty="0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it-IT" sz="1200" b="1" i="1" dirty="0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dPr>
                          <m:e>
                            <m:r>
                              <a:rPr lang="it-IT" sz="1200" b="1" i="0" dirty="0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𝟎</m:t>
                            </m:r>
                          </m:e>
                        </m:d>
                      </m:e>
                      <m:sup>
                        <m:r>
                          <a:rPr lang="it-IT" sz="1200" b="0" i="1" dirty="0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⊗5</m:t>
                        </m:r>
                      </m:sup>
                    </m:sSup>
                    <m:r>
                      <a:rPr lang="en-US" sz="1200" i="1" dirty="0" smtClean="0">
                        <a:solidFill>
                          <a:srgbClr val="F0F6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rgbClr val="F0F6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 ZZFeatureMap(x)  →  FidelityQuantumKernel  →</a:t>
                </a:r>
              </a:p>
              <a:p>
                <a:pPr defTabSz="1219170"/>
                <a:r>
                  <a:rPr lang="en-US" sz="1200" dirty="0">
                    <a:solidFill>
                      <a:srgbClr val="F0F6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SVC Classico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0" name="Text 36">
                <a:extLst>
                  <a:ext uri="{FF2B5EF4-FFF2-40B4-BE49-F238E27FC236}">
                    <a16:creationId xmlns:a16="http://schemas.microsoft.com/office/drawing/2014/main" id="{519484AB-0633-DB8B-90C3-4934C5ADD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85" y="6102096"/>
                <a:ext cx="5079290" cy="512064"/>
              </a:xfrm>
              <a:prstGeom prst="rect">
                <a:avLst/>
              </a:prstGeom>
              <a:blipFill>
                <a:blip r:embed="rId4"/>
                <a:stretch>
                  <a:fillRect l="-1799" b="-5952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Shape 35">
            <a:extLst>
              <a:ext uri="{FF2B5EF4-FFF2-40B4-BE49-F238E27FC236}">
                <a16:creationId xmlns:a16="http://schemas.microsoft.com/office/drawing/2014/main" id="{4A875926-B44C-810F-1076-9B20A2718CD3}"/>
              </a:ext>
            </a:extLst>
          </p:cNvPr>
          <p:cNvSpPr/>
          <p:nvPr/>
        </p:nvSpPr>
        <p:spPr>
          <a:xfrm>
            <a:off x="6346073" y="6102096"/>
            <a:ext cx="5361073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36">
                <a:extLst>
                  <a:ext uri="{FF2B5EF4-FFF2-40B4-BE49-F238E27FC236}">
                    <a16:creationId xmlns:a16="http://schemas.microsoft.com/office/drawing/2014/main" id="{1C2B9675-0D3D-63E6-D4EC-8A9A9E395376}"/>
                  </a:ext>
                </a:extLst>
              </p:cNvPr>
              <p:cNvSpPr/>
              <p:nvPr/>
            </p:nvSpPr>
            <p:spPr>
              <a:xfrm>
                <a:off x="6528953" y="6102096"/>
                <a:ext cx="5105441" cy="512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1219170"/>
                <a:r>
                  <a:rPr lang="en-US" sz="1200" b="1" dirty="0">
                    <a:solidFill>
                      <a:srgbClr val="AC6AE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Pipeline VQC: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200" i="1" dirty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it-IT" sz="1200" b="1" i="1" dirty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dPr>
                          <m:e>
                            <m:r>
                              <a:rPr lang="it-IT" sz="1200" b="1" dirty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𝟎</m:t>
                            </m:r>
                          </m:e>
                        </m:d>
                      </m:e>
                      <m:sup>
                        <m:r>
                          <a:rPr lang="it-IT" sz="1200" i="1" dirty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⊗5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rgbClr val="F0F6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→  ZZFeatureMap(x)  →  RealAmplitudes(θ)  →  Measurement  →  Softmax  →  Classe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2" name="Text 36">
                <a:extLst>
                  <a:ext uri="{FF2B5EF4-FFF2-40B4-BE49-F238E27FC236}">
                    <a16:creationId xmlns:a16="http://schemas.microsoft.com/office/drawing/2014/main" id="{1C2B9675-0D3D-63E6-D4EC-8A9A9E395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953" y="6102096"/>
                <a:ext cx="5105441" cy="512064"/>
              </a:xfrm>
              <a:prstGeom prst="rect">
                <a:avLst/>
              </a:prstGeom>
              <a:blipFill>
                <a:blip r:embed="rId5"/>
                <a:stretch>
                  <a:fillRect l="-1790" b="-5952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47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98700-D315-36AA-26DD-8EDC62F42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7FA6C6E9-5954-41B6-DF01-4D043BE918E3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 — Quantum Feature Map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E3A1E6BD-0FF6-DBB9-B83A-0D5FE1EB5A9D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AE25FBFC-9E5D-ECCA-8758-9C502923D2E1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qubit · reps=2 · entanglement=linear · proiezione in spazio di Hilbert 2⁵ = 32 dimensioni</a:t>
            </a:r>
            <a:endParaRPr lang="en-US" sz="1600" dirty="0">
              <a:solidFill>
                <a:prstClr val="black"/>
              </a:solidFill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4A320F3-F199-5B10-3597-8BCA028E8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5" y="1881830"/>
            <a:ext cx="7382591" cy="3256178"/>
          </a:xfrm>
          <a:prstGeom prst="rect">
            <a:avLst/>
          </a:prstGeom>
        </p:spPr>
      </p:pic>
      <p:sp>
        <p:nvSpPr>
          <p:cNvPr id="13" name="Shape 3">
            <a:extLst>
              <a:ext uri="{FF2B5EF4-FFF2-40B4-BE49-F238E27FC236}">
                <a16:creationId xmlns:a16="http://schemas.microsoft.com/office/drawing/2014/main" id="{F00862B0-D581-BC20-7D7A-8C148A5B08FF}"/>
              </a:ext>
            </a:extLst>
          </p:cNvPr>
          <p:cNvSpPr/>
          <p:nvPr/>
        </p:nvSpPr>
        <p:spPr>
          <a:xfrm>
            <a:off x="8107679" y="1733395"/>
            <a:ext cx="3413760" cy="1341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3CDDBF7-747D-233B-2943-E80CA3FF0135}"/>
              </a:ext>
            </a:extLst>
          </p:cNvPr>
          <p:cNvSpPr/>
          <p:nvPr/>
        </p:nvSpPr>
        <p:spPr>
          <a:xfrm>
            <a:off x="8290559" y="1855315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gate → superposition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5">
                <a:extLst>
                  <a:ext uri="{FF2B5EF4-FFF2-40B4-BE49-F238E27FC236}">
                    <a16:creationId xmlns:a16="http://schemas.microsoft.com/office/drawing/2014/main" id="{5ED612F3-8834-6728-B508-A0B28EE8A5C7}"/>
                  </a:ext>
                </a:extLst>
              </p:cNvPr>
              <p:cNvSpPr/>
              <p:nvPr/>
            </p:nvSpPr>
            <p:spPr>
              <a:xfrm>
                <a:off x="8290559" y="2338496"/>
                <a:ext cx="3230880" cy="5870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1219170"/>
                <a:r>
                  <a:rPr lang="en-US" sz="1400" dirty="0">
                    <a:solidFill>
                      <a:srgbClr val="F0F6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Porta di Hadamard: porta ogni qubit |0⟩ in</a:t>
                </a:r>
              </a:p>
              <a:p>
                <a:pPr defTabSz="1219170"/>
                <a:endParaRPr lang="en-US" sz="100" dirty="0">
                  <a:solidFill>
                    <a:srgbClr val="F0F6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defTabSz="1219170"/>
                <a:r>
                  <a:rPr lang="en-US" sz="1400" dirty="0">
                    <a:solidFill>
                      <a:srgbClr val="F0F6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superposizione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it-IT" sz="14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it-IT" sz="14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</m:t>
                        </m:r>
                      </m:e>
                    </m:d>
                    <m:r>
                      <a:rPr lang="it-IT" sz="1400" b="0" i="1" smtClean="0">
                        <a:solidFill>
                          <a:srgbClr val="F0F6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f>
                      <m:fPr>
                        <m:ctrlPr>
                          <a:rPr lang="it-IT" sz="14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⟩"/>
                            <m:ctrlPr>
                              <a:rPr lang="it-IT" sz="14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dPr>
                          <m:e>
                            <m:r>
                              <a:rPr lang="it-IT" sz="14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0</m:t>
                            </m:r>
                          </m:e>
                        </m:d>
                        <m:r>
                          <a:rPr lang="it-IT" sz="1400" b="0" i="1" smtClean="0">
                            <a:solidFill>
                              <a:srgbClr val="F0F6FC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+|1⟩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it-IT" sz="14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it-IT" sz="1400" b="0" i="1" smtClean="0">
                                <a:solidFill>
                                  <a:srgbClr val="F0F6FC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it-IT" sz="1400" b="0" i="1" smtClean="0">
                        <a:solidFill>
                          <a:srgbClr val="F0F6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</m:oMath>
                </a14:m>
                <a:endParaRPr lang="en-US" sz="1400" dirty="0">
                  <a:solidFill>
                    <a:srgbClr val="F0F6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15" name="Text 5">
                <a:extLst>
                  <a:ext uri="{FF2B5EF4-FFF2-40B4-BE49-F238E27FC236}">
                    <a16:creationId xmlns:a16="http://schemas.microsoft.com/office/drawing/2014/main" id="{5ED612F3-8834-6728-B508-A0B28EE8A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559" y="2338496"/>
                <a:ext cx="3230880" cy="587050"/>
              </a:xfrm>
              <a:prstGeom prst="rect">
                <a:avLst/>
              </a:prstGeom>
              <a:blipFill>
                <a:blip r:embed="rId4"/>
                <a:stretch>
                  <a:fillRect l="-3396" t="-8333" b="-7292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6">
            <a:extLst>
              <a:ext uri="{FF2B5EF4-FFF2-40B4-BE49-F238E27FC236}">
                <a16:creationId xmlns:a16="http://schemas.microsoft.com/office/drawing/2014/main" id="{2BD0491C-00A8-82DA-4638-337D22A913B6}"/>
              </a:ext>
            </a:extLst>
          </p:cNvPr>
          <p:cNvSpPr/>
          <p:nvPr/>
        </p:nvSpPr>
        <p:spPr>
          <a:xfrm>
            <a:off x="8116645" y="3325516"/>
            <a:ext cx="3404794" cy="1341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8F418D0-8E95-E2C6-02B0-05146B629196}"/>
              </a:ext>
            </a:extLst>
          </p:cNvPr>
          <p:cNvSpPr/>
          <p:nvPr/>
        </p:nvSpPr>
        <p:spPr>
          <a:xfrm>
            <a:off x="8299525" y="3447436"/>
            <a:ext cx="3221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Rz(2·xᵢ) → data encoding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809B4422-0197-DB77-FAAC-00BB23D501AE}"/>
              </a:ext>
            </a:extLst>
          </p:cNvPr>
          <p:cNvSpPr/>
          <p:nvPr/>
        </p:nvSpPr>
        <p:spPr>
          <a:xfrm>
            <a:off x="8299525" y="3929347"/>
            <a:ext cx="322191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di rotazione parametrizzato dalla feature xᵢ — codifica il dato nello stato quantistico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F6A1882E-CC66-E6B6-3984-8211DC5DC527}"/>
              </a:ext>
            </a:extLst>
          </p:cNvPr>
          <p:cNvSpPr/>
          <p:nvPr/>
        </p:nvSpPr>
        <p:spPr>
          <a:xfrm>
            <a:off x="8107679" y="4917637"/>
            <a:ext cx="3413760" cy="1341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DA60675-0C4A-34D6-FD67-6113E10C481B}"/>
              </a:ext>
            </a:extLst>
          </p:cNvPr>
          <p:cNvSpPr/>
          <p:nvPr/>
        </p:nvSpPr>
        <p:spPr>
          <a:xfrm>
            <a:off x="8290559" y="5039557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+ Rzz → entanglement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D5232F06-BA65-1006-9592-4A3DC95C512B}"/>
              </a:ext>
            </a:extLst>
          </p:cNvPr>
          <p:cNvSpPr/>
          <p:nvPr/>
        </p:nvSpPr>
        <p:spPr>
          <a:xfrm>
            <a:off x="8290559" y="5527237"/>
            <a:ext cx="323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correlazioni tra qubit: il kernel cattura interazioni non lineari tra feature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A8EBA1E2-12C3-F857-48B8-D7A3465CAAF2}"/>
              </a:ext>
            </a:extLst>
          </p:cNvPr>
          <p:cNvSpPr/>
          <p:nvPr/>
        </p:nvSpPr>
        <p:spPr>
          <a:xfrm>
            <a:off x="557605" y="5384911"/>
            <a:ext cx="7382591" cy="722409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13">
                <a:extLst>
                  <a:ext uri="{FF2B5EF4-FFF2-40B4-BE49-F238E27FC236}">
                    <a16:creationId xmlns:a16="http://schemas.microsoft.com/office/drawing/2014/main" id="{AA6703E8-40C8-D3A3-B483-5B84D73F5268}"/>
                  </a:ext>
                </a:extLst>
              </p:cNvPr>
              <p:cNvSpPr/>
              <p:nvPr/>
            </p:nvSpPr>
            <p:spPr>
              <a:xfrm>
                <a:off x="744070" y="5384911"/>
                <a:ext cx="7018805" cy="7224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1219170"/>
                <a:r>
                  <a:rPr lang="en-US" sz="1400" b="1" dirty="0">
                    <a:solidFill>
                      <a:srgbClr val="AC3AE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Kernel quantistico: </a:t>
                </a:r>
                <a14:m>
                  <m:oMath xmlns:m="http://schemas.openxmlformats.org/officeDocument/2006/math">
                    <m:r>
                      <a:rPr lang="it-IT" sz="1400" b="1" i="1" smtClean="0">
                        <a:solidFill>
                          <a:srgbClr val="22D3E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𝒌</m:t>
                    </m:r>
                    <m:d>
                      <m:dPr>
                        <m:ctrlPr>
                          <a:rPr lang="it-IT" sz="1400" b="1" i="1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it-IT" sz="1400" b="1" i="1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𝒙</m:t>
                        </m:r>
                        <m:r>
                          <a:rPr lang="it-IT" sz="1400" b="1" i="1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sSup>
                          <m:sSupPr>
                            <m:ctrlPr>
                              <a:rPr lang="it-IT" sz="1400" b="1" i="1">
                                <a:solidFill>
                                  <a:srgbClr val="22D3EE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it-IT" sz="1400" b="1" i="1">
                                <a:solidFill>
                                  <a:srgbClr val="22D3EE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𝒙</m:t>
                            </m:r>
                          </m:e>
                          <m:sup>
                            <m:r>
                              <a:rPr lang="it-IT" sz="1400" b="1" i="1">
                                <a:solidFill>
                                  <a:srgbClr val="22D3EE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it-IT" sz="1400" b="1" i="1">
                        <a:solidFill>
                          <a:srgbClr val="22D3E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it-IT" sz="1400" b="1" i="1" smtClean="0">
                        <a:solidFill>
                          <a:srgbClr val="22D3E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</m:t>
                    </m:r>
                    <m:d>
                      <m:dPr>
                        <m:begChr m:val="⟨"/>
                        <m:endChr m:val="|"/>
                        <m:ctrlPr>
                          <a:rPr lang="it-IT" sz="1400" b="1" i="1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it-IT" sz="1400" b="1" i="1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𝟎</m:t>
                        </m:r>
                      </m:e>
                    </m:d>
                    <m:sSup>
                      <m:sSupPr>
                        <m:ctrlP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𝑼</m:t>
                        </m:r>
                      </m:e>
                      <m:sup>
                        <m: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†</m:t>
                        </m:r>
                      </m:sup>
                    </m:sSup>
                    <m:d>
                      <m:dPr>
                        <m:ctrlP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400" b="1" i="1" smtClean="0">
                                <a:solidFill>
                                  <a:srgbClr val="22D3EE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it-IT" sz="1400" b="1" i="1" smtClean="0">
                                <a:solidFill>
                                  <a:srgbClr val="22D3EE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𝒙</m:t>
                            </m:r>
                          </m:e>
                          <m:sup>
                            <m:r>
                              <a:rPr lang="it-IT" sz="1400" b="1" i="1" smtClean="0">
                                <a:solidFill>
                                  <a:srgbClr val="22D3EE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it-IT" sz="1400" b="1" i="1" smtClean="0">
                        <a:solidFill>
                          <a:srgbClr val="22D3EE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𝑼</m:t>
                    </m:r>
                    <m:d>
                      <m:dPr>
                        <m:ctrlP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𝒙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𝟎</m:t>
                        </m:r>
                      </m:e>
                    </m:d>
                    <m:sSup>
                      <m:sSupPr>
                        <m:ctrlP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it-IT" sz="1400" b="1" i="1" smtClean="0">
                                <a:solidFill>
                                  <a:srgbClr val="22D3EE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dPr>
                          <m:e>
                            <m:r>
                              <a:rPr lang="it-IT" sz="1400" b="1" i="1" smtClean="0">
                                <a:solidFill>
                                  <a:srgbClr val="22D3EE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it-IT" sz="1400" b="1" i="1" smtClean="0">
                            <a:solidFill>
                              <a:srgbClr val="22D3E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F0F6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—   fidelity tra stati quantistici nello spazio di Hilbert</a:t>
                </a: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6" name="Text 13">
                <a:extLst>
                  <a:ext uri="{FF2B5EF4-FFF2-40B4-BE49-F238E27FC236}">
                    <a16:creationId xmlns:a16="http://schemas.microsoft.com/office/drawing/2014/main" id="{AA6703E8-40C8-D3A3-B483-5B84D73F5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70" y="5384911"/>
                <a:ext cx="7018805" cy="722409"/>
              </a:xfrm>
              <a:prstGeom prst="rect">
                <a:avLst/>
              </a:prstGeom>
              <a:blipFill>
                <a:blip r:embed="rId5"/>
                <a:stretch>
                  <a:fillRect l="-1564" t="-28571" r="-782" b="-25210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40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E6272-DC01-79F6-5399-F84F431C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6A57C70C-C73E-7F66-6383-30C2C223DBE8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della Kernel Matrix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6012F297-0FF1-CEA5-90EF-2F61987D9E59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3F708782-683B-CA54-CFD0-CE5595533513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of Measure: perché il quantum kernel non riesce a separare i dati</a:t>
            </a:r>
            <a:endParaRPr lang="en-US" sz="1600" dirty="0">
              <a:solidFill>
                <a:prstClr val="black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472BA0A-A316-F860-05AE-09E5AEE35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5" y="2236833"/>
            <a:ext cx="6818555" cy="2915722"/>
          </a:xfrm>
          <a:prstGeom prst="rect">
            <a:avLst/>
          </a:prstGeom>
        </p:spPr>
      </p:pic>
      <p:sp>
        <p:nvSpPr>
          <p:cNvPr id="5" name="Text 15">
            <a:extLst>
              <a:ext uri="{FF2B5EF4-FFF2-40B4-BE49-F238E27FC236}">
                <a16:creationId xmlns:a16="http://schemas.microsoft.com/office/drawing/2014/main" id="{829C86C5-99D6-9320-5221-2DD31CECDB0C}"/>
              </a:ext>
            </a:extLst>
          </p:cNvPr>
          <p:cNvSpPr/>
          <p:nvPr/>
        </p:nvSpPr>
        <p:spPr>
          <a:xfrm>
            <a:off x="557604" y="5360915"/>
            <a:ext cx="6818555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Havlíček et al., Nature 2019 — un kernel quantistico batte il classico solo se i dati hanno struttura geometrica allineata allo spazio di Hilbert.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B77B5B7-B9EF-425D-5EEF-75B344E60ABE}"/>
              </a:ext>
            </a:extLst>
          </p:cNvPr>
          <p:cNvSpPr/>
          <p:nvPr/>
        </p:nvSpPr>
        <p:spPr>
          <a:xfrm>
            <a:off x="7568003" y="1729578"/>
            <a:ext cx="4145280" cy="42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osserviamo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38568E2-9C68-94C8-DB7B-E25614F0E954}"/>
              </a:ext>
            </a:extLst>
          </p:cNvPr>
          <p:cNvSpPr/>
          <p:nvPr/>
        </p:nvSpPr>
        <p:spPr>
          <a:xfrm>
            <a:off x="7568003" y="2282034"/>
            <a:ext cx="4145280" cy="12801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FC1A005-3E13-304C-2227-D8F2BC4D8A9C}"/>
              </a:ext>
            </a:extLst>
          </p:cNvPr>
          <p:cNvSpPr/>
          <p:nvPr/>
        </p:nvSpPr>
        <p:spPr>
          <a:xfrm>
            <a:off x="7750883" y="2403955"/>
            <a:ext cx="377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242FA335-14AB-8588-F6E6-9256EBB740BF}"/>
              </a:ext>
            </a:extLst>
          </p:cNvPr>
          <p:cNvSpPr/>
          <p:nvPr/>
        </p:nvSpPr>
        <p:spPr>
          <a:xfrm>
            <a:off x="7750883" y="2793720"/>
            <a:ext cx="3779520" cy="72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diagonale è significativa. Tutti gli altri elementi ≈ 0 → campioni equidistanti nello spazio di Hilbert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AFC0F50-E0FE-10EF-0CCF-0565F3BEC53D}"/>
              </a:ext>
            </a:extLst>
          </p:cNvPr>
          <p:cNvSpPr/>
          <p:nvPr/>
        </p:nvSpPr>
        <p:spPr>
          <a:xfrm>
            <a:off x="7568003" y="3684112"/>
            <a:ext cx="4145280" cy="128015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167E5E6-49DF-1162-7319-A5C9CF8A597A}"/>
              </a:ext>
            </a:extLst>
          </p:cNvPr>
          <p:cNvSpPr/>
          <p:nvPr/>
        </p:nvSpPr>
        <p:spPr>
          <a:xfrm>
            <a:off x="7750883" y="3806032"/>
            <a:ext cx="377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RBF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55154D9-48E7-2165-25A0-79C8FF3BC0B4}"/>
              </a:ext>
            </a:extLst>
          </p:cNvPr>
          <p:cNvSpPr/>
          <p:nvPr/>
        </p:nvSpPr>
        <p:spPr>
          <a:xfrm>
            <a:off x="7750883" y="4232752"/>
            <a:ext cx="3779520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Chiari blocchi di similarità per classe → il kernel RBF cattura la struttura locale dei dati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09FDC5F7-69E3-A281-45BB-91512B7D8A23}"/>
              </a:ext>
            </a:extLst>
          </p:cNvPr>
          <p:cNvSpPr/>
          <p:nvPr/>
        </p:nvSpPr>
        <p:spPr>
          <a:xfrm>
            <a:off x="7568003" y="5086188"/>
            <a:ext cx="4145280" cy="1280157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6D632D44-3CCB-1093-0480-E534CBCC29F1}"/>
              </a:ext>
            </a:extLst>
          </p:cNvPr>
          <p:cNvSpPr/>
          <p:nvPr/>
        </p:nvSpPr>
        <p:spPr>
          <a:xfrm>
            <a:off x="7750883" y="5208109"/>
            <a:ext cx="377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of Measure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11907AA4-43E7-B65D-0124-3F723A53B5DB}"/>
              </a:ext>
            </a:extLst>
          </p:cNvPr>
          <p:cNvSpPr/>
          <p:nvPr/>
        </p:nvSpPr>
        <p:spPr>
          <a:xfrm>
            <a:off x="7750883" y="5636632"/>
            <a:ext cx="3779520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fidelity collassano verso lo zero → la matrice diventa quasi un’identità. Il QSVC non trova nessun iperpiano separatore</a:t>
            </a:r>
            <a:endParaRPr 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53669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19C97-820B-5950-36FC-1B5DE50E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60D16DE5-87AC-33C8-E59B-BA46BB275F39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VQC: Convergenza e Barren Plateaus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36D23CE8-A426-FAA4-CF02-978C8CF6A79A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AB30419-50B9-20C1-0E98-7AC2E0BCF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5" y="1737868"/>
            <a:ext cx="6022490" cy="2955293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E3B4D30C-65B0-1465-0CCD-E0621575454E}"/>
              </a:ext>
            </a:extLst>
          </p:cNvPr>
          <p:cNvSpPr/>
          <p:nvPr/>
        </p:nvSpPr>
        <p:spPr>
          <a:xfrm>
            <a:off x="6949437" y="1733395"/>
            <a:ext cx="4754880" cy="342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fase per fase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591D9DF-F213-648A-C251-86CAA6A410BA}"/>
              </a:ext>
            </a:extLst>
          </p:cNvPr>
          <p:cNvSpPr/>
          <p:nvPr/>
        </p:nvSpPr>
        <p:spPr>
          <a:xfrm>
            <a:off x="6949439" y="2255665"/>
            <a:ext cx="4754880" cy="1146965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09ABB1A-5BAC-54F1-7733-86F8E85AC7E6}"/>
              </a:ext>
            </a:extLst>
          </p:cNvPr>
          <p:cNvSpPr/>
          <p:nvPr/>
        </p:nvSpPr>
        <p:spPr>
          <a:xfrm>
            <a:off x="6949437" y="2255665"/>
            <a:ext cx="86400" cy="1146965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4040520-009D-0BBB-2677-0C12F34BA73E}"/>
              </a:ext>
            </a:extLst>
          </p:cNvPr>
          <p:cNvSpPr/>
          <p:nvPr/>
        </p:nvSpPr>
        <p:spPr>
          <a:xfrm>
            <a:off x="7132317" y="2345104"/>
            <a:ext cx="4502076" cy="3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0–70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090DDF77-3CCB-8D1C-EDCC-44CD1A97567B}"/>
              </a:ext>
            </a:extLst>
          </p:cNvPr>
          <p:cNvSpPr/>
          <p:nvPr/>
        </p:nvSpPr>
        <p:spPr>
          <a:xfrm>
            <a:off x="7132319" y="2725217"/>
            <a:ext cx="4502076" cy="63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instabilità iniziale (picco &gt;1.20) seguita da una prima discesa. L'ottimizzatore COBYLA esplora il paesaggio di costo alla ricerca di una direzione utile</a:t>
            </a: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C6FDB620-80AD-D77B-61D7-9DFED9B42F7A}"/>
              </a:ext>
            </a:extLst>
          </p:cNvPr>
          <p:cNvSpPr/>
          <p:nvPr/>
        </p:nvSpPr>
        <p:spPr>
          <a:xfrm>
            <a:off x="6949437" y="3485990"/>
            <a:ext cx="4754880" cy="11469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7704E8BC-9472-D31A-BD28-C3F31111B684}"/>
              </a:ext>
            </a:extLst>
          </p:cNvPr>
          <p:cNvSpPr/>
          <p:nvPr/>
        </p:nvSpPr>
        <p:spPr>
          <a:xfrm>
            <a:off x="6949437" y="3485990"/>
            <a:ext cx="86400" cy="11469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3F420BB2-634D-F98F-A4F3-A37D8CF0397E}"/>
              </a:ext>
            </a:extLst>
          </p:cNvPr>
          <p:cNvSpPr/>
          <p:nvPr/>
        </p:nvSpPr>
        <p:spPr>
          <a:xfrm>
            <a:off x="7132317" y="3578349"/>
            <a:ext cx="4502076" cy="338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70–150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1A703A0-A95C-5739-D63C-FF8B921A9544}"/>
              </a:ext>
            </a:extLst>
          </p:cNvPr>
          <p:cNvSpPr/>
          <p:nvPr/>
        </p:nvSpPr>
        <p:spPr>
          <a:xfrm>
            <a:off x="7132316" y="3932052"/>
            <a:ext cx="4502077" cy="524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di ottimizzazione efficace. Si osserva una discesa netta e costante della loss (da 1.000 a 0.956)</a:t>
            </a: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DA713FFB-8AD6-025C-D33A-94B4CE25706C}"/>
              </a:ext>
            </a:extLst>
          </p:cNvPr>
          <p:cNvSpPr/>
          <p:nvPr/>
        </p:nvSpPr>
        <p:spPr>
          <a:xfrm>
            <a:off x="6949437" y="4716315"/>
            <a:ext cx="4754880" cy="1146963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1CF3284D-9CC8-85AD-5631-4D684D691265}"/>
              </a:ext>
            </a:extLst>
          </p:cNvPr>
          <p:cNvSpPr/>
          <p:nvPr/>
        </p:nvSpPr>
        <p:spPr>
          <a:xfrm>
            <a:off x="7132317" y="4806403"/>
            <a:ext cx="4502076" cy="338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150–200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5F2F29C5-5CFB-6644-B9BB-098F1636F3D1}"/>
              </a:ext>
            </a:extLst>
          </p:cNvPr>
          <p:cNvSpPr/>
          <p:nvPr/>
        </p:nvSpPr>
        <p:spPr>
          <a:xfrm>
            <a:off x="7132317" y="5162378"/>
            <a:ext cx="4502076" cy="524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Stallo totale a quota 0.956. Il modello si blocca in un minimo locale da cui l'ottimizzatore non riesce più a scendere</a:t>
            </a:r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B63A22A7-E6C7-E4CF-A6F1-7DCB7298429C}"/>
              </a:ext>
            </a:extLst>
          </p:cNvPr>
          <p:cNvSpPr/>
          <p:nvPr/>
        </p:nvSpPr>
        <p:spPr>
          <a:xfrm>
            <a:off x="557605" y="4975005"/>
            <a:ext cx="6022490" cy="888273"/>
          </a:xfrm>
          <a:prstGeom prst="rect">
            <a:avLst/>
          </a:prstGeom>
          <a:solidFill>
            <a:srgbClr val="1A0A0A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51017BA2-AD53-6F13-B576-E26F6AD5123F}"/>
              </a:ext>
            </a:extLst>
          </p:cNvPr>
          <p:cNvSpPr/>
          <p:nvPr/>
        </p:nvSpPr>
        <p:spPr>
          <a:xfrm>
            <a:off x="740486" y="4999389"/>
            <a:ext cx="5651350" cy="82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Effetto Barren Plateaus: </a:t>
            </a:r>
            <a:r>
              <a:rPr lang="it-IT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circuiti quantistici profondi il paesaggio di costo si appiattisce completamente 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it-IT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 si muove alla cieca su una "pianura" e l'ottimizzazione fallisce (Accuracy finale: 0.51, classificazione casuale)</a:t>
            </a: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4401DBE6-F03B-1A30-007B-63D3F2400C29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 iniziale &gt;1.20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it-IT" altLang="it-IT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discesa utile fino a iter 170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it-IT" altLang="it-IT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 locale a 0.956</a:t>
            </a:r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9884EE03-FB03-67C0-AE09-05A1D2717221}"/>
              </a:ext>
            </a:extLst>
          </p:cNvPr>
          <p:cNvSpPr/>
          <p:nvPr/>
        </p:nvSpPr>
        <p:spPr>
          <a:xfrm>
            <a:off x="6949437" y="4716315"/>
            <a:ext cx="86400" cy="1146963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8737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B4F4D-65D5-5FE4-5087-5A6ED2FF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C3E35CD9-F3B6-9A2B-A36E-C658CCD79E53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Confronto Tutti i Modelli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89C55D05-A71B-2C5C-57B5-9ED77944C981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F5CD3EE5-4192-A108-F9BC-F543973DFCF2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Curve (AUC) come metrica principale di discriminazione</a:t>
            </a:r>
            <a:endParaRPr lang="en-US" sz="1600" dirty="0">
              <a:solidFill>
                <a:prstClr val="black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BF57403-B91C-827A-9594-90B9BBB3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5" y="1733396"/>
            <a:ext cx="6097488" cy="4539586"/>
          </a:xfrm>
          <a:prstGeom prst="rect">
            <a:avLst/>
          </a:prstGeom>
        </p:spPr>
      </p:pic>
      <p:sp>
        <p:nvSpPr>
          <p:cNvPr id="5" name="Text 5">
            <a:extLst>
              <a:ext uri="{FF2B5EF4-FFF2-40B4-BE49-F238E27FC236}">
                <a16:creationId xmlns:a16="http://schemas.microsoft.com/office/drawing/2014/main" id="{62F1C9C7-7883-14AB-F172-57D552DD16BA}"/>
              </a:ext>
            </a:extLst>
          </p:cNvPr>
          <p:cNvSpPr/>
          <p:nvPr/>
        </p:nvSpPr>
        <p:spPr>
          <a:xfrm>
            <a:off x="7559039" y="1730302"/>
            <a:ext cx="415424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8513694-5136-A770-A2B7-AFE64BFEB189}"/>
              </a:ext>
            </a:extLst>
          </p:cNvPr>
          <p:cNvSpPr/>
          <p:nvPr/>
        </p:nvSpPr>
        <p:spPr>
          <a:xfrm>
            <a:off x="7559039" y="2246262"/>
            <a:ext cx="304800" cy="426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9170"/>
            <a:endParaRPr lang="it-IT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8E82FD0-DB07-6671-86F7-0D880ADF5CE8}"/>
              </a:ext>
            </a:extLst>
          </p:cNvPr>
          <p:cNvSpPr/>
          <p:nvPr/>
        </p:nvSpPr>
        <p:spPr>
          <a:xfrm>
            <a:off x="7994725" y="224626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B16D39A-E3B3-660E-5FBB-FC408927AB8F}"/>
              </a:ext>
            </a:extLst>
          </p:cNvPr>
          <p:cNvSpPr/>
          <p:nvPr/>
        </p:nvSpPr>
        <p:spPr>
          <a:xfrm>
            <a:off x="10250245" y="224626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0.786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D3EDE04-C6B6-3D16-B038-2CA2804FD331}"/>
              </a:ext>
            </a:extLst>
          </p:cNvPr>
          <p:cNvSpPr/>
          <p:nvPr/>
        </p:nvSpPr>
        <p:spPr>
          <a:xfrm>
            <a:off x="7560000" y="2966400"/>
            <a:ext cx="304800" cy="426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defTabSz="1219170"/>
            <a:endParaRPr lang="it-IT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EFB8DBA-3ED5-F22B-9FE6-2FEFEF44B04E}"/>
              </a:ext>
            </a:extLst>
          </p:cNvPr>
          <p:cNvSpPr/>
          <p:nvPr/>
        </p:nvSpPr>
        <p:spPr>
          <a:xfrm>
            <a:off x="7994725" y="296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322DFEA-0630-B568-C010-2184025E1DC3}"/>
              </a:ext>
            </a:extLst>
          </p:cNvPr>
          <p:cNvSpPr/>
          <p:nvPr/>
        </p:nvSpPr>
        <p:spPr>
          <a:xfrm>
            <a:off x="10250245" y="2966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0.696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94776254-B293-DA65-9DAD-B396BDED1BFC}"/>
              </a:ext>
            </a:extLst>
          </p:cNvPr>
          <p:cNvSpPr/>
          <p:nvPr/>
        </p:nvSpPr>
        <p:spPr>
          <a:xfrm>
            <a:off x="7560000" y="3686400"/>
            <a:ext cx="304800" cy="426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9170"/>
            <a:endParaRPr lang="it-IT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93F4E04-42E4-AFF6-3DC8-1D04C788F508}"/>
              </a:ext>
            </a:extLst>
          </p:cNvPr>
          <p:cNvSpPr/>
          <p:nvPr/>
        </p:nvSpPr>
        <p:spPr>
          <a:xfrm>
            <a:off x="7994725" y="36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B25789A-EF3C-E47E-99AA-FDDB871297ED}"/>
              </a:ext>
            </a:extLst>
          </p:cNvPr>
          <p:cNvSpPr/>
          <p:nvPr/>
        </p:nvSpPr>
        <p:spPr>
          <a:xfrm>
            <a:off x="10250245" y="3686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0.635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58C032EE-0A86-DF73-7511-BA243BC7027E}"/>
              </a:ext>
            </a:extLst>
          </p:cNvPr>
          <p:cNvSpPr/>
          <p:nvPr/>
        </p:nvSpPr>
        <p:spPr>
          <a:xfrm>
            <a:off x="7560000" y="4406400"/>
            <a:ext cx="304800" cy="426720"/>
          </a:xfrm>
          <a:prstGeom prst="rect">
            <a:avLst/>
          </a:prstGeom>
          <a:solidFill>
            <a:srgbClr val="9C3AED"/>
          </a:solidFill>
          <a:ln w="12700">
            <a:solidFill>
              <a:srgbClr val="9C3AED"/>
            </a:solidFill>
            <a:prstDash val="solid"/>
          </a:ln>
        </p:spPr>
        <p:txBody>
          <a:bodyPr/>
          <a:lstStyle/>
          <a:p>
            <a:pPr defTabSz="1219170"/>
            <a:endParaRPr lang="it-IT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AABF686F-DCEE-E88A-C831-995F95161E42}"/>
              </a:ext>
            </a:extLst>
          </p:cNvPr>
          <p:cNvSpPr/>
          <p:nvPr/>
        </p:nvSpPr>
        <p:spPr>
          <a:xfrm>
            <a:off x="7994725" y="440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17F4EBC0-9EA4-70FE-7AB9-07592DA061E5}"/>
              </a:ext>
            </a:extLst>
          </p:cNvPr>
          <p:cNvSpPr/>
          <p:nvPr/>
        </p:nvSpPr>
        <p:spPr>
          <a:xfrm>
            <a:off x="10250245" y="4406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b="1" dirty="0">
                <a:solidFill>
                  <a:srgbClr val="9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0.540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6708959C-8618-7023-5FC6-2204DD05984B}"/>
              </a:ext>
            </a:extLst>
          </p:cNvPr>
          <p:cNvSpPr/>
          <p:nvPr/>
        </p:nvSpPr>
        <p:spPr>
          <a:xfrm>
            <a:off x="7560000" y="5126400"/>
            <a:ext cx="304800" cy="426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pPr defTabSz="1219170"/>
            <a:endParaRPr lang="it-IT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6B0F4DF7-4268-5537-6540-59179017C767}"/>
              </a:ext>
            </a:extLst>
          </p:cNvPr>
          <p:cNvSpPr/>
          <p:nvPr/>
        </p:nvSpPr>
        <p:spPr>
          <a:xfrm>
            <a:off x="7994725" y="512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2E065EE0-D298-6B9C-82F0-23F706D18815}"/>
              </a:ext>
            </a:extLst>
          </p:cNvPr>
          <p:cNvSpPr/>
          <p:nvPr/>
        </p:nvSpPr>
        <p:spPr>
          <a:xfrm>
            <a:off x="10250245" y="5126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0.510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C01B1773-F8F2-AEBE-FDA9-2D72633A50B1}"/>
              </a:ext>
            </a:extLst>
          </p:cNvPr>
          <p:cNvSpPr/>
          <p:nvPr/>
        </p:nvSpPr>
        <p:spPr>
          <a:xfrm>
            <a:off x="7560000" y="5846262"/>
            <a:ext cx="304800" cy="426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pPr defTabSz="1219170"/>
            <a:endParaRPr lang="it-IT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616D06D5-7A4D-5C8A-23D0-6E3734F560F4}"/>
              </a:ext>
            </a:extLst>
          </p:cNvPr>
          <p:cNvSpPr/>
          <p:nvPr/>
        </p:nvSpPr>
        <p:spPr>
          <a:xfrm>
            <a:off x="7994725" y="584626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341904E5-3753-751C-5A94-96FCBE05B491}"/>
              </a:ext>
            </a:extLst>
          </p:cNvPr>
          <p:cNvSpPr/>
          <p:nvPr/>
        </p:nvSpPr>
        <p:spPr>
          <a:xfrm>
            <a:off x="10250245" y="584626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0.500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002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A1442-5B5E-57CC-22C7-99A66E98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FBAD5898-09AB-2653-6F4E-F429F52D7B62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Comparativi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ED9D77EB-1BA1-A628-FB5A-E83AE719B413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D53654C6-F60F-8015-5A71-888D25951DD3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reali dal notebook · </a:t>
            </a:r>
            <a:r>
              <a:rPr lang="it-IT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influenzato dalle restrizioni sul Train set dei modelli quantistici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186CB00A-956D-3EAA-282E-18919A6AE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517450"/>
              </p:ext>
            </p:extLst>
          </p:nvPr>
        </p:nvGraphicFramePr>
        <p:xfrm>
          <a:off x="557605" y="1733395"/>
          <a:ext cx="11155679" cy="3511296"/>
        </p:xfrm>
        <a:graphic>
          <a:graphicData uri="http://schemas.openxmlformats.org/drawingml/2006/table">
            <a:tbl>
              <a:tblPr/>
              <a:tblGrid>
                <a:gridCol w="237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6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78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3">
            <a:extLst>
              <a:ext uri="{FF2B5EF4-FFF2-40B4-BE49-F238E27FC236}">
                <a16:creationId xmlns:a16="http://schemas.microsoft.com/office/drawing/2014/main" id="{88B89F47-A89F-BE35-3805-2A79008CE628}"/>
              </a:ext>
            </a:extLst>
          </p:cNvPr>
          <p:cNvSpPr/>
          <p:nvPr/>
        </p:nvSpPr>
        <p:spPr>
          <a:xfrm>
            <a:off x="557605" y="5489653"/>
            <a:ext cx="11155679" cy="853440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59EAF45-E3E0-1A77-86C5-3C702068E8A7}"/>
              </a:ext>
            </a:extLst>
          </p:cNvPr>
          <p:cNvSpPr/>
          <p:nvPr/>
        </p:nvSpPr>
        <p:spPr>
          <a:xfrm>
            <a:off x="801445" y="5514037"/>
            <a:ext cx="1071811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Confronto non omogeneo: 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QSVC/VQC usano subset ridotti (200–300 campioni) per i limiti computazionali del simulatore — O(n²) circuit evaluations per il kernel. L'accuracy bassa riflette il trade-off campioni/tempo tipico dell'era NISQ, non l'inferiorità intrinseca del modello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2574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46BBE-A90F-BA13-6EB0-77D528C3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66D6FDDC-8991-20F2-297F-D543BCBE583A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CB2D880-A0FA-0C5A-DEA9-AF9361D3C814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C23ABE36-11EF-3B3E-68B9-5D84D393DCEB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configurazioni reps × entanglement · aumentare la profondità peggiora performance e tempi</a:t>
            </a:r>
            <a:endParaRPr lang="en-US" sz="1600" dirty="0">
              <a:solidFill>
                <a:prstClr val="black"/>
              </a:solidFill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16902343-1733-C65E-A3A8-72A26A2AA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603807"/>
              </p:ext>
            </p:extLst>
          </p:nvPr>
        </p:nvGraphicFramePr>
        <p:xfrm>
          <a:off x="557604" y="1733394"/>
          <a:ext cx="11146715" cy="2838595"/>
        </p:xfrm>
        <a:graphic>
          <a:graphicData uri="http://schemas.openxmlformats.org/drawingml/2006/table">
            <a:tbl>
              <a:tblPr/>
              <a:tblGrid>
                <a:gridCol w="25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9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69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7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QSVC Acc.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QSVC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QSVC t(s)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VQC Acc.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VQC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VQC t(s)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reps=1, linear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reps=2, linear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reps=2, circular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78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reps=2, full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>
            <a:extLst>
              <a:ext uri="{FF2B5EF4-FFF2-40B4-BE49-F238E27FC236}">
                <a16:creationId xmlns:a16="http://schemas.microsoft.com/office/drawing/2014/main" id="{58185A3A-C758-DB59-5EBB-35462C6B0E70}"/>
              </a:ext>
            </a:extLst>
          </p:cNvPr>
          <p:cNvSpPr/>
          <p:nvPr/>
        </p:nvSpPr>
        <p:spPr>
          <a:xfrm>
            <a:off x="557604" y="4822978"/>
            <a:ext cx="3507501" cy="16240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A57CE1-DE64-A878-495A-F24837618CB6}"/>
              </a:ext>
            </a:extLst>
          </p:cNvPr>
          <p:cNvSpPr/>
          <p:nvPr/>
        </p:nvSpPr>
        <p:spPr>
          <a:xfrm>
            <a:off x="655984" y="4944898"/>
            <a:ext cx="3331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miglior compromesso: reps=1, linear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6C62FC-5397-0A26-2A44-64D154D0ECA4}"/>
              </a:ext>
            </a:extLst>
          </p:cNvPr>
          <p:cNvSpPr/>
          <p:nvPr/>
        </p:nvSpPr>
        <p:spPr>
          <a:xfrm>
            <a:off x="606794" y="5355791"/>
            <a:ext cx="3409120" cy="921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quasi ottimali (QSVC 58.0%, VQC 53.0%) con i tempi minori (433s e 489s). Aumentare la profondità non offre </a:t>
            </a:r>
          </a:p>
          <a:p>
            <a:pPr algn="ctr"/>
            <a:r>
              <a:rPr lang="it-IT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 netti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76B0E87-3643-38EE-5A42-C68683232911}"/>
              </a:ext>
            </a:extLst>
          </p:cNvPr>
          <p:cNvSpPr/>
          <p:nvPr/>
        </p:nvSpPr>
        <p:spPr>
          <a:xfrm>
            <a:off x="4382795" y="4822978"/>
            <a:ext cx="3506400" cy="16240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39D9C31-CAC2-59FC-49A9-B4C504C7144C}"/>
              </a:ext>
            </a:extLst>
          </p:cNvPr>
          <p:cNvSpPr/>
          <p:nvPr/>
        </p:nvSpPr>
        <p:spPr>
          <a:xfrm>
            <a:off x="4480935" y="4944898"/>
            <a:ext cx="33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entanglement: il più costoso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C99B6E2-76C7-9FD8-F983-A80388DF75DD}"/>
              </a:ext>
            </a:extLst>
          </p:cNvPr>
          <p:cNvSpPr/>
          <p:nvPr/>
        </p:nvSpPr>
        <p:spPr>
          <a:xfrm>
            <a:off x="4465961" y="5346806"/>
            <a:ext cx="3330000" cy="7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Tempi raddoppiati per il QSVC (912s, +111%) a fronte delle performance peggiori (52.0%). Troppa espressività è controproducente</a:t>
            </a: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BBEABFC6-285E-C9A1-9C38-45163EBF9ED4}"/>
              </a:ext>
            </a:extLst>
          </p:cNvPr>
          <p:cNvSpPr/>
          <p:nvPr/>
        </p:nvSpPr>
        <p:spPr>
          <a:xfrm>
            <a:off x="8206886" y="4822979"/>
            <a:ext cx="3506400" cy="16240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967FDF6-402E-FAFD-EEA8-44FBC4AED113}"/>
              </a:ext>
            </a:extLst>
          </p:cNvPr>
          <p:cNvSpPr/>
          <p:nvPr/>
        </p:nvSpPr>
        <p:spPr>
          <a:xfrm>
            <a:off x="8305852" y="4946480"/>
            <a:ext cx="33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caotico — Barren Plateaus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A60C2C6-68DD-78F6-E0DE-90B18FA1197A}"/>
              </a:ext>
            </a:extLst>
          </p:cNvPr>
          <p:cNvSpPr/>
          <p:nvPr/>
        </p:nvSpPr>
        <p:spPr>
          <a:xfrm>
            <a:off x="8305852" y="5346806"/>
            <a:ext cx="3330000" cy="7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reps=2, circular il QSVC tocca il picco (59.0%), ma il VQC crolla al 49.0%. L'eccessivo entanglement blocca l'ottimizzatore VQC</a:t>
            </a:r>
          </a:p>
        </p:txBody>
      </p:sp>
    </p:spTree>
    <p:extLst>
      <p:ext uri="{BB962C8B-B14F-4D97-AF65-F5344CB8AC3E}">
        <p14:creationId xmlns:p14="http://schemas.microsoft.com/office/powerpoint/2010/main" val="303905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4A367-35C5-7C8D-5A8A-73AF10C6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405A4577-308F-6D4D-E7A1-A35D2C63051C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Discussione Critica &amp; Limitazioni NISQ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F2813221-BCC8-1579-E7DD-CA8F1AD8AB48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329EA308-DD38-2908-6FC4-1F76D65A2F56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Onestà scientifica: il classico vince, ma i meccanismi emersi sono il vero contributo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E1DF9AA6-7F9A-8C54-0DBC-76B9A6A631AA}"/>
              </a:ext>
            </a:extLst>
          </p:cNvPr>
          <p:cNvSpPr/>
          <p:nvPr/>
        </p:nvSpPr>
        <p:spPr>
          <a:xfrm>
            <a:off x="557605" y="1733395"/>
            <a:ext cx="5233594" cy="180944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429D349-3AFB-1E1A-A73F-43C705D617C4}"/>
              </a:ext>
            </a:extLst>
          </p:cNvPr>
          <p:cNvSpPr/>
          <p:nvPr/>
        </p:nvSpPr>
        <p:spPr>
          <a:xfrm>
            <a:off x="740485" y="1855315"/>
            <a:ext cx="4888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of Measure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391DBB7-D915-1362-5DF6-39F50230D41B}"/>
              </a:ext>
            </a:extLst>
          </p:cNvPr>
          <p:cNvSpPr/>
          <p:nvPr/>
        </p:nvSpPr>
        <p:spPr>
          <a:xfrm>
            <a:off x="740485" y="2269679"/>
            <a:ext cx="4888522" cy="1018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ZZFeatureMap(reps=2) il kernel quantistico collassa verso una costante. Tutti i campioni risultano equidistanti nello spazio di Hilbert — QSVC non trova nessun margine separabile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B24C60E0-B275-E8A2-65EE-F3439E2D0E5B}"/>
              </a:ext>
            </a:extLst>
          </p:cNvPr>
          <p:cNvSpPr/>
          <p:nvPr/>
        </p:nvSpPr>
        <p:spPr>
          <a:xfrm>
            <a:off x="6469919" y="1733395"/>
            <a:ext cx="5234400" cy="180944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8FE3B683-31C8-F69F-F3DA-04595718CDE9}"/>
              </a:ext>
            </a:extLst>
          </p:cNvPr>
          <p:cNvSpPr/>
          <p:nvPr/>
        </p:nvSpPr>
        <p:spPr>
          <a:xfrm>
            <a:off x="6652799" y="1855315"/>
            <a:ext cx="4889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Plateaus nel VQC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D5ED16B5-202C-5D33-00F2-0DAD17D9B707}"/>
              </a:ext>
            </a:extLst>
          </p:cNvPr>
          <p:cNvSpPr/>
          <p:nvPr/>
        </p:nvSpPr>
        <p:spPr>
          <a:xfrm>
            <a:off x="6652799" y="2269679"/>
            <a:ext cx="4889328" cy="1018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Circuiti più profondi producono gradienti esponenzialmente piatti. COBYLA converge in minimo locale (loss=0.956) senza trovare </a:t>
            </a:r>
          </a:p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regione utile dei parametri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C5713692-570B-A125-03EE-7B9909488ED0}"/>
              </a:ext>
            </a:extLst>
          </p:cNvPr>
          <p:cNvSpPr/>
          <p:nvPr/>
        </p:nvSpPr>
        <p:spPr>
          <a:xfrm>
            <a:off x="557605" y="3883152"/>
            <a:ext cx="5234400" cy="180944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465DE2F-D4FF-4CFB-02FB-6AB1D07F57E8}"/>
              </a:ext>
            </a:extLst>
          </p:cNvPr>
          <p:cNvSpPr/>
          <p:nvPr/>
        </p:nvSpPr>
        <p:spPr>
          <a:xfrm>
            <a:off x="740485" y="4005072"/>
            <a:ext cx="4889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Limitazioni del simulatore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696F5F3E-9C7B-89FA-F1C4-E31A8B5150E0}"/>
              </a:ext>
            </a:extLst>
          </p:cNvPr>
          <p:cNvSpPr/>
          <p:nvPr/>
        </p:nvSpPr>
        <p:spPr>
          <a:xfrm>
            <a:off x="740485" y="4419436"/>
            <a:ext cx="4889328" cy="78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Statevector: costo O(N²) per la kernel matrix → limite a 200 campioni. Su hardware reale IBM il rumore può aiutare </a:t>
            </a:r>
          </a:p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(smoothing) o peggiorare (gate errors, decoerenza)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AFC143E6-CE02-ADD6-8374-4B2C28C0881F}"/>
              </a:ext>
            </a:extLst>
          </p:cNvPr>
          <p:cNvSpPr/>
          <p:nvPr/>
        </p:nvSpPr>
        <p:spPr>
          <a:xfrm>
            <a:off x="6469919" y="3883152"/>
            <a:ext cx="5234400" cy="180944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9170"/>
            <a:endParaRPr lang="it-IT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ADE79F8-A2F2-2ED0-7872-FCDC421A2E91}"/>
              </a:ext>
            </a:extLst>
          </p:cNvPr>
          <p:cNvSpPr/>
          <p:nvPr/>
        </p:nvSpPr>
        <p:spPr>
          <a:xfrm>
            <a:off x="6652799" y="4005072"/>
            <a:ext cx="4889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quantum può battere il classico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5D5A9066-0E4A-15A1-DC35-F4C0AFF30987}"/>
              </a:ext>
            </a:extLst>
          </p:cNvPr>
          <p:cNvSpPr/>
          <p:nvPr/>
        </p:nvSpPr>
        <p:spPr>
          <a:xfrm>
            <a:off x="6652799" y="4419436"/>
            <a:ext cx="4889328" cy="1018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 problema-specifiche + dati con struttura geometrica nello spazio di Hilbert + hardware con basso errore. Le 5 feature URL si sovrappongono → caso non ideale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62732C0A-518D-D03F-D5E1-BAB465B974FB}"/>
              </a:ext>
            </a:extLst>
          </p:cNvPr>
          <p:cNvSpPr/>
          <p:nvPr/>
        </p:nvSpPr>
        <p:spPr>
          <a:xfrm>
            <a:off x="557605" y="5943598"/>
            <a:ext cx="11155680" cy="709219"/>
          </a:xfrm>
          <a:prstGeom prst="rect">
            <a:avLst/>
          </a:prstGeom>
          <a:solidFill>
            <a:srgbClr val="0D213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5E9DB1C-DF29-E551-F030-95ACA10E0E6B}"/>
              </a:ext>
            </a:extLst>
          </p:cNvPr>
          <p:cNvSpPr/>
          <p:nvPr/>
        </p:nvSpPr>
        <p:spPr>
          <a:xfrm>
            <a:off x="801445" y="5967982"/>
            <a:ext cx="10680970" cy="646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"Il QML nella sua forma attuale (NISQ, feature map generiche) non offre vantaggi su problemi reali di cybersecurity — ma rivela i meccanismi teorici che ne limitano l'efficacia oggi."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69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27FA8-4F15-CCF8-C0DB-9BB43B360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C1ABA780-7B13-E208-AAFB-CE033640EBE1}"/>
              </a:ext>
            </a:extLst>
          </p:cNvPr>
          <p:cNvSpPr/>
          <p:nvPr/>
        </p:nvSpPr>
        <p:spPr>
          <a:xfrm>
            <a:off x="557605" y="243840"/>
            <a:ext cx="1114671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&amp; Contributi del Progetto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6B500B2F-7D73-95D7-862A-CFDF69CB9000}"/>
              </a:ext>
            </a:extLst>
          </p:cNvPr>
          <p:cNvSpPr/>
          <p:nvPr/>
        </p:nvSpPr>
        <p:spPr>
          <a:xfrm flipV="1">
            <a:off x="557605" y="914400"/>
            <a:ext cx="11155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B8D7175B-C4D4-59E7-0C91-BA57FA116067}"/>
              </a:ext>
            </a:extLst>
          </p:cNvPr>
          <p:cNvSpPr/>
          <p:nvPr/>
        </p:nvSpPr>
        <p:spPr>
          <a:xfrm>
            <a:off x="557605" y="1165402"/>
            <a:ext cx="1114671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del lavoro svolto, risultati empirici e prospettive future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45F6D9D-AB2A-3377-7A50-F702AD8E7BD9}"/>
              </a:ext>
            </a:extLst>
          </p:cNvPr>
          <p:cNvSpPr/>
          <p:nvPr/>
        </p:nvSpPr>
        <p:spPr>
          <a:xfrm>
            <a:off x="557605" y="1733395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A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D15DCE7-160A-8363-920F-6EF05FA3A25D}"/>
              </a:ext>
            </a:extLst>
          </p:cNvPr>
          <p:cNvSpPr/>
          <p:nvPr/>
        </p:nvSpPr>
        <p:spPr>
          <a:xfrm>
            <a:off x="1289125" y="1733395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empirico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ADDFA33-1A88-CF90-BF5C-9CB5DB99519F}"/>
              </a:ext>
            </a:extLst>
          </p:cNvPr>
          <p:cNvSpPr/>
          <p:nvPr/>
        </p:nvSpPr>
        <p:spPr>
          <a:xfrm>
            <a:off x="1289125" y="2062579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sistematico SVM, LR, RF, QSVC, VQC su phishing detection reale con 5 feature estratte da URL grezzi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A0026F0-A206-7B8C-EBA8-33F92E0F8B92}"/>
              </a:ext>
            </a:extLst>
          </p:cNvPr>
          <p:cNvSpPr/>
          <p:nvPr/>
        </p:nvSpPr>
        <p:spPr>
          <a:xfrm>
            <a:off x="557605" y="2708755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A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2488C6E-C0DD-0FD5-5944-B35B03E8B5EE}"/>
              </a:ext>
            </a:extLst>
          </p:cNvPr>
          <p:cNvSpPr/>
          <p:nvPr/>
        </p:nvSpPr>
        <p:spPr>
          <a:xfrm>
            <a:off x="1289125" y="2708755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originale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774A1F7-A894-F4D4-991B-A901ADB3EDA4}"/>
              </a:ext>
            </a:extLst>
          </p:cNvPr>
          <p:cNvSpPr/>
          <p:nvPr/>
        </p:nvSpPr>
        <p:spPr>
          <a:xfrm>
            <a:off x="1289125" y="3037939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 da 549k+ URL: URL_Length, Shannon Entropy, Subdomain_Count, Special_Char_Count, Digit_Ratio — zero API, 100% riproducibile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5A3A0B4-8DA7-1985-CF25-9970917FEE8F}"/>
              </a:ext>
            </a:extLst>
          </p:cNvPr>
          <p:cNvSpPr/>
          <p:nvPr/>
        </p:nvSpPr>
        <p:spPr>
          <a:xfrm>
            <a:off x="557605" y="3684115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A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241E86BF-A23A-922D-6DB1-46C0D1713158}"/>
              </a:ext>
            </a:extLst>
          </p:cNvPr>
          <p:cNvSpPr/>
          <p:nvPr/>
        </p:nvSpPr>
        <p:spPr>
          <a:xfrm>
            <a:off x="1289125" y="3684115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kernel matrix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7EEC5EB-6E32-DF14-697A-954071CA71E4}"/>
              </a:ext>
            </a:extLst>
          </p:cNvPr>
          <p:cNvSpPr/>
          <p:nvPr/>
        </p:nvSpPr>
        <p:spPr>
          <a:xfrm>
            <a:off x="1289125" y="4013299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empirica della concentration of measure: ZZFeatureMap vs RBF su 30 campioni bilanciati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EBD35CB5-029C-450D-63D7-A105B67140F5}"/>
              </a:ext>
            </a:extLst>
          </p:cNvPr>
          <p:cNvSpPr/>
          <p:nvPr/>
        </p:nvSpPr>
        <p:spPr>
          <a:xfrm>
            <a:off x="557605" y="4659475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A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03A6B69-E78E-7317-817B-F1A0BD87F8F3}"/>
              </a:ext>
            </a:extLst>
          </p:cNvPr>
          <p:cNvSpPr/>
          <p:nvPr/>
        </p:nvSpPr>
        <p:spPr>
          <a:xfrm>
            <a:off x="1289125" y="4659475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F3FDF01B-5B17-FD5F-3CEA-5F5DC69B6171}"/>
              </a:ext>
            </a:extLst>
          </p:cNvPr>
          <p:cNvSpPr/>
          <p:nvPr/>
        </p:nvSpPr>
        <p:spPr>
          <a:xfrm>
            <a:off x="1289125" y="4988659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configurazioni (reps × entanglement) — aumentare la profondità peggiora performance e tempi, segnale di barren plateaus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F1366B2-CE49-CE1F-F256-B494D6E39A29}"/>
              </a:ext>
            </a:extLst>
          </p:cNvPr>
          <p:cNvSpPr/>
          <p:nvPr/>
        </p:nvSpPr>
        <p:spPr>
          <a:xfrm>
            <a:off x="557605" y="5634835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A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E7F99A17-F0F1-09A7-5CDB-4BE692F2E8E4}"/>
              </a:ext>
            </a:extLst>
          </p:cNvPr>
          <p:cNvSpPr/>
          <p:nvPr/>
        </p:nvSpPr>
        <p:spPr>
          <a:xfrm>
            <a:off x="1289125" y="5634835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Onestà scientifica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0AACDAF-9C8A-BB3B-1F44-A969FE0ACE4F}"/>
              </a:ext>
            </a:extLst>
          </p:cNvPr>
          <p:cNvSpPr/>
          <p:nvPr/>
        </p:nvSpPr>
        <p:spPr>
          <a:xfrm>
            <a:off x="1289125" y="5964019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classico vince, ma la comprensione profonda dei meccanismi è il vero contributo scientifico del progetto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16D95C8B-6C4E-5FDB-170E-76698F8BDD1D}"/>
              </a:ext>
            </a:extLst>
          </p:cNvPr>
          <p:cNvSpPr/>
          <p:nvPr/>
        </p:nvSpPr>
        <p:spPr>
          <a:xfrm>
            <a:off x="7315199" y="1733395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Chiave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76757686-814B-A2D3-D6D9-48A55DE69224}"/>
              </a:ext>
            </a:extLst>
          </p:cNvPr>
          <p:cNvSpPr/>
          <p:nvPr/>
        </p:nvSpPr>
        <p:spPr>
          <a:xfrm>
            <a:off x="7315199" y="2221075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2223DA05-3B9F-F9BF-FA35-7D95BC76D966}"/>
              </a:ext>
            </a:extLst>
          </p:cNvPr>
          <p:cNvSpPr/>
          <p:nvPr/>
        </p:nvSpPr>
        <p:spPr>
          <a:xfrm>
            <a:off x="9570719" y="2221075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0.786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F28E593B-BF1D-BA57-E535-CC38D6EE5DAA}"/>
              </a:ext>
            </a:extLst>
          </p:cNvPr>
          <p:cNvSpPr/>
          <p:nvPr/>
        </p:nvSpPr>
        <p:spPr>
          <a:xfrm>
            <a:off x="7315199" y="2689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7C527080-1F0A-8E98-DA92-B6B67F0A2E67}"/>
              </a:ext>
            </a:extLst>
          </p:cNvPr>
          <p:cNvSpPr/>
          <p:nvPr/>
        </p:nvSpPr>
        <p:spPr>
          <a:xfrm>
            <a:off x="9570719" y="2689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0.696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C9482BD5-3D55-4186-9A74-0D6FACE9A543}"/>
              </a:ext>
            </a:extLst>
          </p:cNvPr>
          <p:cNvSpPr/>
          <p:nvPr/>
        </p:nvSpPr>
        <p:spPr>
          <a:xfrm>
            <a:off x="7315199" y="3157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 Regression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950CCA62-FEDD-0FA6-9A71-CA89D0982C69}"/>
              </a:ext>
            </a:extLst>
          </p:cNvPr>
          <p:cNvSpPr/>
          <p:nvPr/>
        </p:nvSpPr>
        <p:spPr>
          <a:xfrm>
            <a:off x="9570719" y="3157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0.635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E6294CEA-F81E-402F-89D8-3B92B53939A9}"/>
              </a:ext>
            </a:extLst>
          </p:cNvPr>
          <p:cNvSpPr/>
          <p:nvPr/>
        </p:nvSpPr>
        <p:spPr>
          <a:xfrm>
            <a:off x="7315199" y="3625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AADDF30A-7E29-702F-E794-B4103468DC61}"/>
              </a:ext>
            </a:extLst>
          </p:cNvPr>
          <p:cNvSpPr/>
          <p:nvPr/>
        </p:nvSpPr>
        <p:spPr>
          <a:xfrm>
            <a:off x="9570719" y="3625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0.540 (≈ random)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5E3E27D3-A314-1726-5FAB-9310F6CE0D2E}"/>
              </a:ext>
            </a:extLst>
          </p:cNvPr>
          <p:cNvSpPr/>
          <p:nvPr/>
        </p:nvSpPr>
        <p:spPr>
          <a:xfrm>
            <a:off x="7315199" y="4093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28">
            <a:extLst>
              <a:ext uri="{FF2B5EF4-FFF2-40B4-BE49-F238E27FC236}">
                <a16:creationId xmlns:a16="http://schemas.microsoft.com/office/drawing/2014/main" id="{4BDDD4CA-54A2-3850-4D55-816532150CEB}"/>
              </a:ext>
            </a:extLst>
          </p:cNvPr>
          <p:cNvSpPr/>
          <p:nvPr/>
        </p:nvSpPr>
        <p:spPr>
          <a:xfrm>
            <a:off x="9570719" y="4093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0.510 (≈ random)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F6D88C22-E1F0-D1B8-80E0-40D08F491ED5}"/>
              </a:ext>
            </a:extLst>
          </p:cNvPr>
          <p:cNvSpPr/>
          <p:nvPr/>
        </p:nvSpPr>
        <p:spPr>
          <a:xfrm>
            <a:off x="7315199" y="4661310"/>
            <a:ext cx="43891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it-IT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30">
            <a:extLst>
              <a:ext uri="{FF2B5EF4-FFF2-40B4-BE49-F238E27FC236}">
                <a16:creationId xmlns:a16="http://schemas.microsoft.com/office/drawing/2014/main" id="{E9262618-5D4D-2B10-C852-ABE06A6AC920}"/>
              </a:ext>
            </a:extLst>
          </p:cNvPr>
          <p:cNvSpPr/>
          <p:nvPr/>
        </p:nvSpPr>
        <p:spPr>
          <a:xfrm>
            <a:off x="7315199" y="4758846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Prospettive Future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990F3E7E-BBDA-73B2-6732-A3611C8A3E44}"/>
              </a:ext>
            </a:extLst>
          </p:cNvPr>
          <p:cNvSpPr/>
          <p:nvPr/>
        </p:nvSpPr>
        <p:spPr>
          <a:xfrm>
            <a:off x="7315199" y="5124606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su hardware quantistico reale</a:t>
            </a:r>
          </a:p>
        </p:txBody>
      </p:sp>
      <p:sp>
        <p:nvSpPr>
          <p:cNvPr id="50" name="Text 32">
            <a:extLst>
              <a:ext uri="{FF2B5EF4-FFF2-40B4-BE49-F238E27FC236}">
                <a16:creationId xmlns:a16="http://schemas.microsoft.com/office/drawing/2014/main" id="{92E1AFE3-8C3A-80E1-202D-D030AF9E3987}"/>
              </a:ext>
            </a:extLst>
          </p:cNvPr>
          <p:cNvSpPr/>
          <p:nvPr/>
        </p:nvSpPr>
        <p:spPr>
          <a:xfrm>
            <a:off x="7315199" y="5490366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 feature map problema-specifiche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33">
            <a:extLst>
              <a:ext uri="{FF2B5EF4-FFF2-40B4-BE49-F238E27FC236}">
                <a16:creationId xmlns:a16="http://schemas.microsoft.com/office/drawing/2014/main" id="{03C46DB4-7180-E899-4DBC-E1583880E141}"/>
              </a:ext>
            </a:extLst>
          </p:cNvPr>
          <p:cNvSpPr/>
          <p:nvPr/>
        </p:nvSpPr>
        <p:spPr>
          <a:xfrm>
            <a:off x="7315199" y="5856126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it-IT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Mitigazione dei Barren Plateaus</a:t>
            </a:r>
          </a:p>
        </p:txBody>
      </p:sp>
      <p:sp>
        <p:nvSpPr>
          <p:cNvPr id="52" name="Text 34">
            <a:extLst>
              <a:ext uri="{FF2B5EF4-FFF2-40B4-BE49-F238E27FC236}">
                <a16:creationId xmlns:a16="http://schemas.microsoft.com/office/drawing/2014/main" id="{613B5943-ADB0-EA7A-CB3B-7A1082E82310}"/>
              </a:ext>
            </a:extLst>
          </p:cNvPr>
          <p:cNvSpPr/>
          <p:nvPr/>
        </p:nvSpPr>
        <p:spPr>
          <a:xfrm>
            <a:off x="7315199" y="6224418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dimensionale (PCA) pre-encoding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2312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3679</TotalTime>
  <Words>1840</Words>
  <Application>Microsoft Office PowerPoint</Application>
  <PresentationFormat>Widescreen</PresentationFormat>
  <Paragraphs>309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 Math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Nocerino</dc:creator>
  <cp:lastModifiedBy>Matteo Nocerino</cp:lastModifiedBy>
  <cp:revision>57</cp:revision>
  <dcterms:created xsi:type="dcterms:W3CDTF">2026-04-26T13:30:50Z</dcterms:created>
  <dcterms:modified xsi:type="dcterms:W3CDTF">2026-05-07T16:44:48Z</dcterms:modified>
</cp:coreProperties>
</file>